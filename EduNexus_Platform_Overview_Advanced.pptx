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Modules</c:v>
                </c:pt>
              </c:strCache>
            </c:strRef>
          </c:tx>
          <c:spPr>
            <a:solidFill>
              <a:srgbClr val="2F6FED"/>
            </a:solidFill>
          </c:spPr>
          <c:cat>
            <c:strRef>
              <c:f>Sheet1!$A$2:$A$10</c:f>
              <c:strCache>
                <c:ptCount val="9"/>
                <c:pt idx="0">
                  <c:v>Admin &amp; Security</c:v>
                </c:pt>
                <c:pt idx="1">
                  <c:v>Teaching &amp; Exams</c:v>
                </c:pt>
                <c:pt idx="2">
                  <c:v>Academics</c:v>
                </c:pt>
                <c:pt idx="3">
                  <c:v>Admissions</c:v>
                </c:pt>
                <c:pt idx="4">
                  <c:v>Students &amp; Family</c:v>
                </c:pt>
                <c:pt idx="5">
                  <c:v>Finance</c:v>
                </c:pt>
                <c:pt idx="6">
                  <c:v>Communication</c:v>
                </c:pt>
                <c:pt idx="7">
                  <c:v>Public &amp; Roadmap</c:v>
                </c:pt>
                <c:pt idx="8">
                  <c:v>AI &amp; Automation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8</c:v>
                </c:pt>
                <c:pt idx="1">
                  <c:v>7</c:v>
                </c:pt>
                <c:pt idx="2">
                  <c:v>5</c:v>
                </c:pt>
                <c:pt idx="3">
                  <c:v>4</c:v>
                </c:pt>
                <c:pt idx="4">
                  <c:v>4</c:v>
                </c:pt>
                <c:pt idx="5">
                  <c:v>4</c:v>
                </c:pt>
                <c:pt idx="6">
                  <c:v>3</c:v>
                </c:pt>
                <c:pt idx="7">
                  <c:v>3</c:v>
                </c:pt>
                <c:pt idx="8">
                  <c:v>2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>
                  <a:solidFill>
                    <a:srgbClr val="1D2939"/>
                  </a:solidFill>
                  <a:latin typeface="Segoe U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E3E8EF"/>
            </a:solidFill>
          </a:ln>
        </c:spPr>
        <c:txPr>
          <a:bodyPr/>
          <a:lstStyle/>
          <a:p>
            <a:pPr>
              <a:defRPr sz="1200">
                <a:latin typeface="Segoe U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11.png"/><Relationship Id="rId7" Type="http://schemas.openxmlformats.org/officeDocument/2006/relationships/image" Target="../media/image4.png"/><Relationship Id="rId8" Type="http://schemas.openxmlformats.org/officeDocument/2006/relationships/image" Target="../media/image5.png"/><Relationship Id="rId9" Type="http://schemas.openxmlformats.org/officeDocument/2006/relationships/image" Target="../media/image6.png"/><Relationship Id="rId10" Type="http://schemas.openxmlformats.org/officeDocument/2006/relationships/image" Target="../media/image7.png"/><Relationship Id="rId11" Type="http://schemas.openxmlformats.org/officeDocument/2006/relationships/image" Target="../media/image8.png"/><Relationship Id="rId12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2.png"/><Relationship Id="rId4" Type="http://schemas.openxmlformats.org/officeDocument/2006/relationships/image" Target="../media/image10.png"/><Relationship Id="rId5" Type="http://schemas.openxmlformats.org/officeDocument/2006/relationships/image" Target="../media/image1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12.png"/><Relationship Id="rId4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2.png"/><Relationship Id="rId7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0.png"/><Relationship Id="rId7" Type="http://schemas.openxmlformats.org/officeDocument/2006/relationships/image" Target="../media/image1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6.png"/><Relationship Id="rId4" Type="http://schemas.openxmlformats.org/officeDocument/2006/relationships/image" Target="../media/image9.png"/><Relationship Id="rId5" Type="http://schemas.openxmlformats.org/officeDocument/2006/relationships/image" Target="../media/image11.png"/><Relationship Id="rId6" Type="http://schemas.openxmlformats.org/officeDocument/2006/relationships/image" Target="../media/image1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.png"/><Relationship Id="rId4" Type="http://schemas.openxmlformats.org/officeDocument/2006/relationships/image" Target="../media/image1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6.png"/><Relationship Id="rId4" Type="http://schemas.openxmlformats.org/officeDocument/2006/relationships/image" Target="../media/image10.png"/><Relationship Id="rId5" Type="http://schemas.openxmlformats.org/officeDocument/2006/relationships/image" Target="../media/image15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5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1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6.png"/><Relationship Id="rId4" Type="http://schemas.openxmlformats.org/officeDocument/2006/relationships/image" Target="../media/image1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10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1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6.png"/><Relationship Id="rId4" Type="http://schemas.openxmlformats.org/officeDocument/2006/relationships/image" Target="../media/image19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10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2.png"/><Relationship Id="rId4" Type="http://schemas.openxmlformats.org/officeDocument/2006/relationships/image" Target="../media/image8.png"/><Relationship Id="rId5" Type="http://schemas.openxmlformats.org/officeDocument/2006/relationships/image" Target="../media/image7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81829"/>
              </a:gs>
              <a:gs pos="100000">
                <a:srgbClr val="0F2A44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14255" y="-2011680"/>
            <a:ext cx="5669280" cy="5669280"/>
          </a:xfrm>
          <a:prstGeom prst="ellipse">
            <a:avLst/>
          </a:prstGeom>
          <a:solidFill>
            <a:srgbClr val="2F6FED"/>
            <a:alpha val="1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828800" y="4663440"/>
            <a:ext cx="4023360" cy="4023360"/>
          </a:xfrm>
          <a:prstGeom prst="ellipse">
            <a:avLst/>
          </a:prstGeom>
          <a:solidFill>
            <a:srgbClr val="FFB020"/>
            <a:alpha val="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731520"/>
            <a:ext cx="731520" cy="731520"/>
          </a:xfrm>
          <a:prstGeom prst="roundRect">
            <a:avLst>
              <a:gd name="adj" fmla="val 30000"/>
            </a:avLst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400">
                <a:solidFill>
                  <a:srgbClr val="FFFFFF"/>
                </a:solidFill>
                <a:latin typeface="Segoe UI"/>
              </a:rPr>
              <a:t>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06040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 i="0">
                <a:solidFill>
                  <a:srgbClr val="FFFFFF"/>
                </a:solidFill>
                <a:latin typeface="Segoe UI"/>
              </a:rPr>
              <a:t>EduNexus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3566160"/>
            <a:ext cx="914400" cy="64008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767328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D7E0EE"/>
                </a:solidFill>
                <a:latin typeface="Segoe UI"/>
              </a:rPr>
              <a:t>Unified School Management &amp; Learning 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29768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8FA3C0"/>
                </a:solidFill>
                <a:latin typeface="Segoe UI"/>
              </a:rPr>
              <a:t>Advanced Platform &amp; Module Overview</a:t>
            </a:r>
          </a:p>
        </p:txBody>
      </p:sp>
      <p:sp>
        <p:nvSpPr>
          <p:cNvPr id="12" name="Oval 11"/>
          <p:cNvSpPr/>
          <p:nvPr/>
        </p:nvSpPr>
        <p:spPr>
          <a:xfrm>
            <a:off x="891540" y="5280660"/>
            <a:ext cx="502920" cy="502920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183" y="5391303"/>
            <a:ext cx="281635" cy="281635"/>
          </a:xfrm>
          <a:prstGeom prst="rect">
            <a:avLst/>
          </a:prstGeom>
        </p:spPr>
      </p:pic>
      <p:sp>
        <p:nvSpPr>
          <p:cNvPr id="14" name="Oval 13"/>
          <p:cNvSpPr/>
          <p:nvPr/>
        </p:nvSpPr>
        <p:spPr>
          <a:xfrm>
            <a:off x="1604772" y="5280660"/>
            <a:ext cx="502920" cy="502920"/>
          </a:xfrm>
          <a:prstGeom prst="ellipse">
            <a:avLst/>
          </a:prstGeom>
          <a:solidFill>
            <a:srgbClr val="0EA9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peo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5415" y="5391303"/>
            <a:ext cx="281635" cy="281635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2318004" y="5280660"/>
            <a:ext cx="502920" cy="502920"/>
          </a:xfrm>
          <a:prstGeom prst="ellipse">
            <a:avLst/>
          </a:prstGeom>
          <a:solidFill>
            <a:srgbClr val="7C5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lay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8647" y="5391303"/>
            <a:ext cx="281635" cy="281635"/>
          </a:xfrm>
          <a:prstGeom prst="rect">
            <a:avLst/>
          </a:prstGeom>
        </p:spPr>
      </p:pic>
      <p:sp>
        <p:nvSpPr>
          <p:cNvPr id="18" name="Oval 17"/>
          <p:cNvSpPr/>
          <p:nvPr/>
        </p:nvSpPr>
        <p:spPr>
          <a:xfrm>
            <a:off x="3031236" y="5280660"/>
            <a:ext cx="502920" cy="502920"/>
          </a:xfrm>
          <a:prstGeom prst="ellipse">
            <a:avLst/>
          </a:prstGeom>
          <a:solidFill>
            <a:srgbClr val="E84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med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41879" y="5391303"/>
            <a:ext cx="281635" cy="281635"/>
          </a:xfrm>
          <a:prstGeom prst="rect">
            <a:avLst/>
          </a:prstGeom>
        </p:spPr>
      </p:pic>
      <p:sp>
        <p:nvSpPr>
          <p:cNvPr id="20" name="Oval 19"/>
          <p:cNvSpPr/>
          <p:nvPr/>
        </p:nvSpPr>
        <p:spPr>
          <a:xfrm>
            <a:off x="3744468" y="5280660"/>
            <a:ext cx="502920" cy="502920"/>
          </a:xfrm>
          <a:prstGeom prst="ellipse">
            <a:avLst/>
          </a:prstGeom>
          <a:solidFill>
            <a:srgbClr val="1FA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walle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55111" y="5391303"/>
            <a:ext cx="281635" cy="281635"/>
          </a:xfrm>
          <a:prstGeom prst="rect">
            <a:avLst/>
          </a:prstGeom>
        </p:spPr>
      </p:pic>
      <p:sp>
        <p:nvSpPr>
          <p:cNvPr id="22" name="Oval 21"/>
          <p:cNvSpPr/>
          <p:nvPr/>
        </p:nvSpPr>
        <p:spPr>
          <a:xfrm>
            <a:off x="4457700" y="5280660"/>
            <a:ext cx="502920" cy="502920"/>
          </a:xfrm>
          <a:prstGeom prst="ellipse">
            <a:avLst/>
          </a:prstGeom>
          <a:solidFill>
            <a:srgbClr val="E047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cha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68343" y="5391303"/>
            <a:ext cx="281635" cy="281635"/>
          </a:xfrm>
          <a:prstGeom prst="rect">
            <a:avLst/>
          </a:prstGeom>
        </p:spPr>
      </p:pic>
      <p:sp>
        <p:nvSpPr>
          <p:cNvPr id="24" name="Oval 23"/>
          <p:cNvSpPr/>
          <p:nvPr/>
        </p:nvSpPr>
        <p:spPr>
          <a:xfrm>
            <a:off x="5170932" y="5280660"/>
            <a:ext cx="502920" cy="502920"/>
          </a:xfrm>
          <a:prstGeom prst="ellipse">
            <a:avLst/>
          </a:prstGeom>
          <a:solidFill>
            <a:srgbClr val="535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sparkl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81575" y="5391303"/>
            <a:ext cx="281635" cy="281635"/>
          </a:xfrm>
          <a:prstGeom prst="rect">
            <a:avLst/>
          </a:prstGeom>
        </p:spPr>
      </p:pic>
      <p:sp>
        <p:nvSpPr>
          <p:cNvPr id="26" name="Oval 25"/>
          <p:cNvSpPr/>
          <p:nvPr/>
        </p:nvSpPr>
        <p:spPr>
          <a:xfrm>
            <a:off x="5884164" y="5280660"/>
            <a:ext cx="502920" cy="502920"/>
          </a:xfrm>
          <a:prstGeom prst="ellipse">
            <a:avLst/>
          </a:prstGeom>
          <a:solidFill>
            <a:srgbClr val="546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shiel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94807" y="5391303"/>
            <a:ext cx="281635" cy="281635"/>
          </a:xfrm>
          <a:prstGeom prst="rect">
            <a:avLst/>
          </a:prstGeom>
        </p:spPr>
      </p:pic>
      <p:sp>
        <p:nvSpPr>
          <p:cNvPr id="28" name="Oval 27"/>
          <p:cNvSpPr/>
          <p:nvPr/>
        </p:nvSpPr>
        <p:spPr>
          <a:xfrm>
            <a:off x="6597396" y="5280660"/>
            <a:ext cx="502920" cy="502920"/>
          </a:xfrm>
          <a:prstGeom prst="ellipse">
            <a:avLst/>
          </a:prstGeom>
          <a:solidFill>
            <a:srgbClr val="DB8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glob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08039" y="5391303"/>
            <a:ext cx="281635" cy="281635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22960" y="63093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C82A3"/>
                </a:solidFill>
                <a:latin typeface="Segoe UI"/>
              </a:rPr>
              <a:t>Prepared July 2026  •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384048" cy="54864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B020"/>
                </a:solidFill>
                <a:latin typeface="Segoe U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F2A44"/>
                </a:solidFill>
                <a:latin typeface="Segoe UI"/>
              </a:rPr>
              <a:t>What We'll Cover</a:t>
            </a:r>
          </a:p>
        </p:txBody>
      </p:sp>
      <p:sp>
        <p:nvSpPr>
          <p:cNvPr id="6" name="Oval 5"/>
          <p:cNvSpPr/>
          <p:nvPr/>
        </p:nvSpPr>
        <p:spPr>
          <a:xfrm>
            <a:off x="576072" y="1901951"/>
            <a:ext cx="530352" cy="530352"/>
          </a:xfrm>
          <a:prstGeom prst="ellipse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750" y="2018629"/>
            <a:ext cx="296997" cy="29699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34440" y="1929383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B020"/>
                </a:solidFill>
                <a:latin typeface="Segoe U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185415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0F2A44"/>
                </a:solidFill>
                <a:latin typeface="Segoe UI"/>
              </a:rPr>
              <a:t>Executive Summary</a:t>
            </a:r>
          </a:p>
        </p:txBody>
      </p:sp>
      <p:sp>
        <p:nvSpPr>
          <p:cNvPr id="10" name="Oval 9"/>
          <p:cNvSpPr/>
          <p:nvPr/>
        </p:nvSpPr>
        <p:spPr>
          <a:xfrm>
            <a:off x="576072" y="2679191"/>
            <a:ext cx="530352" cy="530352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lay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750" y="2795869"/>
            <a:ext cx="296997" cy="29699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34440" y="2706623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B020"/>
                </a:solidFill>
                <a:latin typeface="Segoe U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962655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0F2A44"/>
                </a:solidFill>
                <a:latin typeface="Segoe UI"/>
              </a:rPr>
              <a:t>Platform Architecture</a:t>
            </a:r>
          </a:p>
        </p:txBody>
      </p:sp>
      <p:sp>
        <p:nvSpPr>
          <p:cNvPr id="14" name="Oval 13"/>
          <p:cNvSpPr/>
          <p:nvPr/>
        </p:nvSpPr>
        <p:spPr>
          <a:xfrm>
            <a:off x="576072" y="3456431"/>
            <a:ext cx="530352" cy="530352"/>
          </a:xfrm>
          <a:prstGeom prst="ellipse">
            <a:avLst/>
          </a:prstGeom>
          <a:solidFill>
            <a:srgbClr val="0EA9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peo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750" y="3573109"/>
            <a:ext cx="296997" cy="296997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234440" y="3483863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B020"/>
                </a:solidFill>
                <a:latin typeface="Segoe U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739895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0F2A44"/>
                </a:solidFill>
                <a:latin typeface="Segoe UI"/>
              </a:rPr>
              <a:t>User Personas</a:t>
            </a:r>
          </a:p>
        </p:txBody>
      </p:sp>
      <p:sp>
        <p:nvSpPr>
          <p:cNvPr id="18" name="Oval 17"/>
          <p:cNvSpPr/>
          <p:nvPr/>
        </p:nvSpPr>
        <p:spPr>
          <a:xfrm>
            <a:off x="576072" y="4233671"/>
            <a:ext cx="530352" cy="530352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c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750" y="4350349"/>
            <a:ext cx="296997" cy="296997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234440" y="4261103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B020"/>
                </a:solidFill>
                <a:latin typeface="Segoe U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4517135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0F2A44"/>
                </a:solidFill>
                <a:latin typeface="Segoe UI"/>
              </a:rPr>
              <a:t>Admissions &amp; Enrollment</a:t>
            </a:r>
          </a:p>
        </p:txBody>
      </p:sp>
      <p:sp>
        <p:nvSpPr>
          <p:cNvPr id="22" name="Oval 21"/>
          <p:cNvSpPr/>
          <p:nvPr/>
        </p:nvSpPr>
        <p:spPr>
          <a:xfrm>
            <a:off x="576072" y="5010911"/>
            <a:ext cx="530352" cy="530352"/>
          </a:xfrm>
          <a:prstGeom prst="ellipse">
            <a:avLst/>
          </a:prstGeom>
          <a:solidFill>
            <a:srgbClr val="0EA9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peo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750" y="5127589"/>
            <a:ext cx="296997" cy="296997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234440" y="5038343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B020"/>
                </a:solidFill>
                <a:latin typeface="Segoe U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5294375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0F2A44"/>
                </a:solidFill>
                <a:latin typeface="Segoe UI"/>
              </a:rPr>
              <a:t>Student, Staff &amp; Family</a:t>
            </a:r>
          </a:p>
        </p:txBody>
      </p:sp>
      <p:sp>
        <p:nvSpPr>
          <p:cNvPr id="26" name="Oval 25"/>
          <p:cNvSpPr/>
          <p:nvPr/>
        </p:nvSpPr>
        <p:spPr>
          <a:xfrm>
            <a:off x="576072" y="5788151"/>
            <a:ext cx="530352" cy="530352"/>
          </a:xfrm>
          <a:prstGeom prst="ellipse">
            <a:avLst/>
          </a:prstGeom>
          <a:solidFill>
            <a:srgbClr val="7C5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calenda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2750" y="5904829"/>
            <a:ext cx="296997" cy="296997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234440" y="5815583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B020"/>
                </a:solidFill>
                <a:latin typeface="Segoe UI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4440" y="6071615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0F2A44"/>
                </a:solidFill>
                <a:latin typeface="Segoe UI"/>
              </a:rPr>
              <a:t>Core Academic Operations</a:t>
            </a:r>
          </a:p>
        </p:txBody>
      </p:sp>
      <p:sp>
        <p:nvSpPr>
          <p:cNvPr id="30" name="Oval 29"/>
          <p:cNvSpPr/>
          <p:nvPr/>
        </p:nvSpPr>
        <p:spPr>
          <a:xfrm>
            <a:off x="6199632" y="1901951"/>
            <a:ext cx="530352" cy="530352"/>
          </a:xfrm>
          <a:prstGeom prst="ellipse">
            <a:avLst/>
          </a:prstGeom>
          <a:solidFill>
            <a:srgbClr val="E84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meda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16310" y="2018629"/>
            <a:ext cx="296997" cy="296997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858000" y="1929383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B020"/>
                </a:solidFill>
                <a:latin typeface="Segoe UI"/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2185415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0F2A44"/>
                </a:solidFill>
                <a:latin typeface="Segoe UI"/>
              </a:rPr>
              <a:t>Teaching, Learning &amp; Assessment</a:t>
            </a:r>
          </a:p>
        </p:txBody>
      </p:sp>
      <p:sp>
        <p:nvSpPr>
          <p:cNvPr id="34" name="Oval 33"/>
          <p:cNvSpPr/>
          <p:nvPr/>
        </p:nvSpPr>
        <p:spPr>
          <a:xfrm>
            <a:off x="6199632" y="2679191"/>
            <a:ext cx="530352" cy="530352"/>
          </a:xfrm>
          <a:prstGeom prst="ellipse">
            <a:avLst/>
          </a:prstGeom>
          <a:solidFill>
            <a:srgbClr val="1FA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walle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16310" y="2795869"/>
            <a:ext cx="296997" cy="296997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858000" y="2706623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B020"/>
                </a:solidFill>
                <a:latin typeface="Segoe UI"/>
              </a:rPr>
              <a:t>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2962655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0F2A44"/>
                </a:solidFill>
                <a:latin typeface="Segoe UI"/>
              </a:rPr>
              <a:t>Finance</a:t>
            </a:r>
          </a:p>
        </p:txBody>
      </p:sp>
      <p:sp>
        <p:nvSpPr>
          <p:cNvPr id="38" name="Oval 37"/>
          <p:cNvSpPr/>
          <p:nvPr/>
        </p:nvSpPr>
        <p:spPr>
          <a:xfrm>
            <a:off x="6199632" y="3456431"/>
            <a:ext cx="530352" cy="530352"/>
          </a:xfrm>
          <a:prstGeom prst="ellipse">
            <a:avLst/>
          </a:prstGeom>
          <a:solidFill>
            <a:srgbClr val="E047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cha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16310" y="3573109"/>
            <a:ext cx="296997" cy="29699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858000" y="3483863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B020"/>
                </a:solidFill>
                <a:latin typeface="Segoe UI"/>
              </a:rPr>
              <a:t>09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3739895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0F2A44"/>
                </a:solidFill>
                <a:latin typeface="Segoe UI"/>
              </a:rPr>
              <a:t>Communication &amp; Engagement</a:t>
            </a:r>
          </a:p>
        </p:txBody>
      </p:sp>
      <p:sp>
        <p:nvSpPr>
          <p:cNvPr id="42" name="Oval 41"/>
          <p:cNvSpPr/>
          <p:nvPr/>
        </p:nvSpPr>
        <p:spPr>
          <a:xfrm>
            <a:off x="6199632" y="4233671"/>
            <a:ext cx="530352" cy="530352"/>
          </a:xfrm>
          <a:prstGeom prst="ellipse">
            <a:avLst/>
          </a:prstGeom>
          <a:solidFill>
            <a:srgbClr val="535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sparkl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16310" y="4350349"/>
            <a:ext cx="296997" cy="296997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6858000" y="4261103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B020"/>
                </a:solidFill>
                <a:latin typeface="Segoe UI"/>
              </a:rPr>
              <a:t>10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0" y="4517135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0F2A44"/>
                </a:solidFill>
                <a:latin typeface="Segoe UI"/>
              </a:rPr>
              <a:t>AI &amp; Automation</a:t>
            </a:r>
          </a:p>
        </p:txBody>
      </p:sp>
      <p:sp>
        <p:nvSpPr>
          <p:cNvPr id="46" name="Oval 45"/>
          <p:cNvSpPr/>
          <p:nvPr/>
        </p:nvSpPr>
        <p:spPr>
          <a:xfrm>
            <a:off x="6199632" y="5010911"/>
            <a:ext cx="530352" cy="530352"/>
          </a:xfrm>
          <a:prstGeom prst="ellipse">
            <a:avLst/>
          </a:prstGeom>
          <a:solidFill>
            <a:srgbClr val="546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shiel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16310" y="5127589"/>
            <a:ext cx="296997" cy="296997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6858000" y="5038343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B020"/>
                </a:solidFill>
                <a:latin typeface="Segoe UI"/>
              </a:rPr>
              <a:t>11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58000" y="5294375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0F2A44"/>
                </a:solidFill>
                <a:latin typeface="Segoe UI"/>
              </a:rPr>
              <a:t>Administration &amp; Security</a:t>
            </a:r>
          </a:p>
        </p:txBody>
      </p:sp>
      <p:sp>
        <p:nvSpPr>
          <p:cNvPr id="50" name="Oval 49"/>
          <p:cNvSpPr/>
          <p:nvPr/>
        </p:nvSpPr>
        <p:spPr>
          <a:xfrm>
            <a:off x="6199632" y="5788151"/>
            <a:ext cx="530352" cy="530352"/>
          </a:xfrm>
          <a:prstGeom prst="ellipse">
            <a:avLst/>
          </a:prstGeom>
          <a:solidFill>
            <a:srgbClr val="DB8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glob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16310" y="5904829"/>
            <a:ext cx="296997" cy="296997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6858000" y="5815583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B020"/>
                </a:solidFill>
                <a:latin typeface="Segoe UI"/>
              </a:rPr>
              <a:t>12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58000" y="6071615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0F2A44"/>
                </a:solidFill>
                <a:latin typeface="Segoe UI"/>
              </a:rPr>
              <a:t>Public Website &amp; Roadmap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EduNexus  •  Advanced Platform Overview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384048" cy="54864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B020"/>
                </a:solidFill>
                <a:latin typeface="Segoe UI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F2A44"/>
                </a:solidFill>
                <a:latin typeface="Segoe UI"/>
              </a:rPr>
              <a:t>Platform at a Glance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68883" y="2066544"/>
            <a:ext cx="2542032" cy="2286000"/>
          </a:xfrm>
          <a:prstGeom prst="rect">
            <a:avLst/>
          </a:prstGeom>
          <a:solidFill>
            <a:srgbClr val="DC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7735" y="2011680"/>
            <a:ext cx="2542032" cy="2286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510131" y="2281428"/>
            <a:ext cx="777240" cy="777240"/>
          </a:xfrm>
          <a:prstGeom prst="ellipse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ay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1124" y="2452421"/>
            <a:ext cx="435254" cy="43525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7735" y="3218688"/>
            <a:ext cx="254203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0F2A44"/>
                </a:solidFill>
                <a:latin typeface="Segoe UI"/>
              </a:rPr>
              <a:t>3-Tier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0615" y="3749040"/>
            <a:ext cx="21762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5B6472"/>
                </a:solidFill>
                <a:latin typeface="Segoe UI"/>
              </a:rPr>
              <a:t>Multi-tenant architecture: Platform → Organization → School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66947" y="2066544"/>
            <a:ext cx="2542032" cy="2286000"/>
          </a:xfrm>
          <a:prstGeom prst="rect">
            <a:avLst/>
          </a:prstGeom>
          <a:solidFill>
            <a:srgbClr val="DC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25799" y="2011680"/>
            <a:ext cx="2542032" cy="2286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08195" y="2281428"/>
            <a:ext cx="777240" cy="777240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build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9188" y="2452421"/>
            <a:ext cx="435254" cy="43525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425799" y="3218688"/>
            <a:ext cx="254203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0F2A44"/>
                </a:solidFill>
                <a:latin typeface="Segoe UI"/>
              </a:rPr>
              <a:t>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08679" y="3749040"/>
            <a:ext cx="21762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5B6472"/>
                </a:solidFill>
                <a:latin typeface="Segoe UI"/>
              </a:rPr>
              <a:t>Core suites covering the full institution lifecycle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5011" y="2066544"/>
            <a:ext cx="2542032" cy="2286000"/>
          </a:xfrm>
          <a:prstGeom prst="rect">
            <a:avLst/>
          </a:prstGeom>
          <a:solidFill>
            <a:srgbClr val="DC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23863" y="2011680"/>
            <a:ext cx="2542032" cy="2286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106259" y="2281428"/>
            <a:ext cx="777240" cy="777240"/>
          </a:xfrm>
          <a:prstGeom prst="ellipse">
            <a:avLst/>
          </a:prstGeom>
          <a:solidFill>
            <a:srgbClr val="0EA9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7252" y="2452421"/>
            <a:ext cx="435254" cy="43525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223863" y="3218688"/>
            <a:ext cx="254203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0F2A44"/>
                </a:solidFill>
                <a:latin typeface="Segoe UI"/>
              </a:rPr>
              <a:t>40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6743" y="3749040"/>
            <a:ext cx="21762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5B6472"/>
                </a:solidFill>
                <a:latin typeface="Segoe UI"/>
              </a:rPr>
              <a:t>Modules &amp; sub-modules across the platform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63075" y="2066544"/>
            <a:ext cx="2542032" cy="2286000"/>
          </a:xfrm>
          <a:prstGeom prst="rect">
            <a:avLst/>
          </a:prstGeom>
          <a:solidFill>
            <a:srgbClr val="DC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021927" y="2011680"/>
            <a:ext cx="2542032" cy="2286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904323" y="2281428"/>
            <a:ext cx="777240" cy="777240"/>
          </a:xfrm>
          <a:prstGeom prst="ellipse">
            <a:avLst/>
          </a:prstGeom>
          <a:solidFill>
            <a:srgbClr val="E047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mai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75316" y="2452421"/>
            <a:ext cx="435254" cy="435254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021927" y="3218688"/>
            <a:ext cx="254203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0F2A44"/>
                </a:solidFill>
                <a:latin typeface="Segoe U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04807" y="3749040"/>
            <a:ext cx="21762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5B6472"/>
                </a:solidFill>
                <a:latin typeface="Segoe UI"/>
              </a:rPr>
              <a:t>Communication channels: Email, SMS, WhatsApp, Push, In-App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709160"/>
            <a:ext cx="108813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 i="0">
                <a:solidFill>
                  <a:srgbClr val="1D2939"/>
                </a:solidFill>
                <a:latin typeface="Segoe UI"/>
              </a:rPr>
              <a:t>EduNexus consolidates admissions, academics, assessments, finance, HR, and communication into one secure platform — so a single deployment can serve an entire group of schools, each governed by its own role-based access model.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EduNexus  •  Advanced Platform Overview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384048" cy="54864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B020"/>
                </a:solidFill>
                <a:latin typeface="Segoe UI"/>
              </a:rPr>
              <a:t>PLATFORM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F2A44"/>
                </a:solidFill>
                <a:latin typeface="Segoe UI"/>
              </a:rPr>
              <a:t>One Platform, Many Schools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687171" y="2011680"/>
            <a:ext cx="2377440" cy="1188720"/>
          </a:xfrm>
          <a:prstGeom prst="rect">
            <a:avLst/>
          </a:prstGeom>
          <a:solidFill>
            <a:srgbClr val="DC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5167" y="1965960"/>
            <a:ext cx="2377440" cy="1188720"/>
          </a:xfrm>
          <a:prstGeom prst="roundRect">
            <a:avLst>
              <a:gd name="adj" fmla="val 14000"/>
            </a:avLst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1199" y="2249424"/>
            <a:ext cx="621792" cy="62179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buil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994" y="2386219"/>
            <a:ext cx="348203" cy="34820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661007" y="2221992"/>
            <a:ext cx="1234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Segoe UI"/>
              </a:rPr>
              <a:t>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1007" y="2587752"/>
            <a:ext cx="1234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E3E9F3"/>
                </a:solidFill>
                <a:latin typeface="Segoe UI"/>
              </a:rPr>
              <a:t>Single deployment</a:t>
            </a:r>
          </a:p>
        </p:txBody>
      </p:sp>
      <p:sp>
        <p:nvSpPr>
          <p:cNvPr id="12" name="Chevron 11"/>
          <p:cNvSpPr/>
          <p:nvPr/>
        </p:nvSpPr>
        <p:spPr>
          <a:xfrm>
            <a:off x="3087471" y="2377440"/>
            <a:ext cx="347472" cy="365760"/>
          </a:xfrm>
          <a:prstGeom prst="chevron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21811" y="2011680"/>
            <a:ext cx="2377440" cy="1188720"/>
          </a:xfrm>
          <a:prstGeom prst="rect">
            <a:avLst/>
          </a:prstGeom>
          <a:solidFill>
            <a:srgbClr val="DC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89807" y="1965960"/>
            <a:ext cx="2377440" cy="1188720"/>
          </a:xfrm>
          <a:prstGeom prst="roundRect">
            <a:avLst>
              <a:gd name="adj" fmla="val 14000"/>
            </a:avLst>
          </a:prstGeom>
          <a:solidFill>
            <a:srgbClr val="1B45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745839" y="2249424"/>
            <a:ext cx="621792" cy="62179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lay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2634" y="2386219"/>
            <a:ext cx="348203" cy="348203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495647" y="2221992"/>
            <a:ext cx="1234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Segoe UI"/>
              </a:rPr>
              <a:t>Organization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5647" y="2587752"/>
            <a:ext cx="1234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E3E9F3"/>
                </a:solidFill>
                <a:latin typeface="Segoe UI"/>
              </a:rPr>
              <a:t>Education group</a:t>
            </a:r>
          </a:p>
        </p:txBody>
      </p:sp>
      <p:sp>
        <p:nvSpPr>
          <p:cNvPr id="19" name="Chevron 18"/>
          <p:cNvSpPr/>
          <p:nvPr/>
        </p:nvSpPr>
        <p:spPr>
          <a:xfrm>
            <a:off x="5922111" y="2377440"/>
            <a:ext cx="347472" cy="365760"/>
          </a:xfrm>
          <a:prstGeom prst="chevron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6451" y="2011680"/>
            <a:ext cx="2377440" cy="1188720"/>
          </a:xfrm>
          <a:prstGeom prst="rect">
            <a:avLst/>
          </a:prstGeom>
          <a:solidFill>
            <a:srgbClr val="DC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324447" y="1965960"/>
            <a:ext cx="2377440" cy="1188720"/>
          </a:xfrm>
          <a:prstGeom prst="roundRect">
            <a:avLst>
              <a:gd name="adj" fmla="val 14000"/>
            </a:avLst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580479" y="2249424"/>
            <a:ext cx="621792" cy="62179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c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7274" y="2386219"/>
            <a:ext cx="348203" cy="348203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330287" y="2221992"/>
            <a:ext cx="1234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Segoe UI"/>
              </a:rPr>
              <a:t>School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30287" y="2587752"/>
            <a:ext cx="1234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E3E9F3"/>
                </a:solidFill>
                <a:latin typeface="Segoe UI"/>
              </a:rPr>
              <a:t>Individual school</a:t>
            </a:r>
          </a:p>
        </p:txBody>
      </p:sp>
      <p:sp>
        <p:nvSpPr>
          <p:cNvPr id="26" name="Chevron 25"/>
          <p:cNvSpPr/>
          <p:nvPr/>
        </p:nvSpPr>
        <p:spPr>
          <a:xfrm>
            <a:off x="8756751" y="2377440"/>
            <a:ext cx="347472" cy="365760"/>
          </a:xfrm>
          <a:prstGeom prst="chevron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91091" y="2011680"/>
            <a:ext cx="2377440" cy="1188720"/>
          </a:xfrm>
          <a:prstGeom prst="rect">
            <a:avLst/>
          </a:prstGeom>
          <a:solidFill>
            <a:srgbClr val="DC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159087" y="1965960"/>
            <a:ext cx="2377440" cy="1188720"/>
          </a:xfrm>
          <a:prstGeom prst="roundRect">
            <a:avLst>
              <a:gd name="adj" fmla="val 14000"/>
            </a:avLst>
          </a:prstGeom>
          <a:solidFill>
            <a:srgbClr val="6DA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415119" y="2249424"/>
            <a:ext cx="621792" cy="62179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peop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51914" y="2386219"/>
            <a:ext cx="348203" cy="348203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0164927" y="2221992"/>
            <a:ext cx="1234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Segoe UI"/>
              </a:rPr>
              <a:t>Users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64927" y="2587752"/>
            <a:ext cx="1234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E3E9F3"/>
                </a:solidFill>
                <a:latin typeface="Segoe UI"/>
              </a:rPr>
              <a:t>Role-based access</a:t>
            </a:r>
          </a:p>
        </p:txBody>
      </p:sp>
      <p:sp>
        <p:nvSpPr>
          <p:cNvPr id="33" name="Oval 32"/>
          <p:cNvSpPr/>
          <p:nvPr/>
        </p:nvSpPr>
        <p:spPr>
          <a:xfrm>
            <a:off x="548640" y="3703320"/>
            <a:ext cx="457200" cy="457200"/>
          </a:xfrm>
          <a:prstGeom prst="ellipse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shie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" y="3803904"/>
            <a:ext cx="256032" cy="256032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143000" y="370332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F2A44"/>
                </a:solidFill>
                <a:latin typeface="Segoe UI"/>
              </a:rPr>
              <a:t>Super Admin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77640" y="3721608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472"/>
                </a:solidFill>
                <a:latin typeface="Segoe UI"/>
              </a:rPr>
              <a:t>Full platform control across all organizations and schools.</a:t>
            </a:r>
          </a:p>
        </p:txBody>
      </p:sp>
      <p:sp>
        <p:nvSpPr>
          <p:cNvPr id="37" name="Oval 36"/>
          <p:cNvSpPr/>
          <p:nvPr/>
        </p:nvSpPr>
        <p:spPr>
          <a:xfrm>
            <a:off x="548640" y="4361688"/>
            <a:ext cx="457200" cy="457200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buil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4462272"/>
            <a:ext cx="256032" cy="256032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143000" y="4361688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F2A44"/>
                </a:solidFill>
                <a:latin typeface="Segoe UI"/>
              </a:rPr>
              <a:t>Organization Admin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977640" y="4379976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472"/>
                </a:solidFill>
                <a:latin typeface="Segoe UI"/>
              </a:rPr>
              <a:t>Manages multiple schools within their group.</a:t>
            </a:r>
          </a:p>
        </p:txBody>
      </p:sp>
      <p:sp>
        <p:nvSpPr>
          <p:cNvPr id="41" name="Oval 40"/>
          <p:cNvSpPr/>
          <p:nvPr/>
        </p:nvSpPr>
        <p:spPr>
          <a:xfrm>
            <a:off x="548640" y="5020056"/>
            <a:ext cx="457200" cy="457200"/>
          </a:xfrm>
          <a:prstGeom prst="ellipse">
            <a:avLst/>
          </a:prstGeom>
          <a:solidFill>
            <a:srgbClr val="7C5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lay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5120640"/>
            <a:ext cx="256032" cy="256032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143000" y="5020056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F2A44"/>
                </a:solidFill>
                <a:latin typeface="Segoe UI"/>
              </a:rPr>
              <a:t>School Admin &amp; Staff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977640" y="5038344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472"/>
                </a:solidFill>
                <a:latin typeface="Segoe UI"/>
              </a:rPr>
              <a:t>Runs daily school operations end to end.</a:t>
            </a:r>
          </a:p>
        </p:txBody>
      </p:sp>
      <p:sp>
        <p:nvSpPr>
          <p:cNvPr id="45" name="Oval 44"/>
          <p:cNvSpPr/>
          <p:nvPr/>
        </p:nvSpPr>
        <p:spPr>
          <a:xfrm>
            <a:off x="548640" y="5678424"/>
            <a:ext cx="457200" cy="457200"/>
          </a:xfrm>
          <a:prstGeom prst="ellipse">
            <a:avLst/>
          </a:prstGeom>
          <a:solidFill>
            <a:srgbClr val="0EA9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peop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" y="5779008"/>
            <a:ext cx="256032" cy="256032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143000" y="5678424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F2A44"/>
                </a:solidFill>
                <a:latin typeface="Segoe UI"/>
              </a:rPr>
              <a:t>Teachers, Parents &amp; Students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977640" y="5696712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472"/>
                </a:solidFill>
                <a:latin typeface="Segoe UI"/>
              </a:rPr>
              <a:t>Role-specific portal access to classes, records, and updates.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EduNexus  •  Advanced Platform Overview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384048" cy="54864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B020"/>
                </a:solidFill>
                <a:latin typeface="Segoe UI"/>
              </a:rPr>
              <a:t>PLATFORM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F2A44"/>
                </a:solidFill>
                <a:latin typeface="Segoe UI"/>
              </a:rPr>
              <a:t>Nine Suites, One Platform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6095847" y="1691639"/>
            <a:ext cx="0" cy="2286000"/>
          </a:xfrm>
          <a:prstGeom prst="line">
            <a:avLst/>
          </a:prstGeom>
          <a:ln w="19050">
            <a:solidFill>
              <a:srgbClr val="2F6F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6095847" y="2226461"/>
            <a:ext cx="1469412" cy="1751178"/>
          </a:xfrm>
          <a:prstGeom prst="line">
            <a:avLst/>
          </a:prstGeom>
          <a:ln w="19050">
            <a:solidFill>
              <a:srgbClr val="0EA9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6095847" y="3580679"/>
            <a:ext cx="2251270" cy="396960"/>
          </a:xfrm>
          <a:prstGeom prst="line">
            <a:avLst/>
          </a:prstGeom>
          <a:ln w="19050">
            <a:solidFill>
              <a:srgbClr val="7C5C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095847" y="3977639"/>
            <a:ext cx="1979734" cy="1143000"/>
          </a:xfrm>
          <a:prstGeom prst="line">
            <a:avLst/>
          </a:prstGeom>
          <a:ln w="19050">
            <a:solidFill>
              <a:srgbClr val="E84B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95847" y="3977639"/>
            <a:ext cx="781858" cy="2148137"/>
          </a:xfrm>
          <a:prstGeom prst="line">
            <a:avLst/>
          </a:prstGeom>
          <a:ln w="19050">
            <a:solidFill>
              <a:srgbClr val="1FA9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5313988" y="3977639"/>
            <a:ext cx="781859" cy="2148137"/>
          </a:xfrm>
          <a:prstGeom prst="line">
            <a:avLst/>
          </a:prstGeom>
          <a:ln w="19050">
            <a:solidFill>
              <a:srgbClr val="E047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4116112" y="3977639"/>
            <a:ext cx="1979735" cy="1143000"/>
          </a:xfrm>
          <a:prstGeom prst="line">
            <a:avLst/>
          </a:prstGeom>
          <a:ln w="19050">
            <a:solidFill>
              <a:srgbClr val="5357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 flipV="1">
            <a:off x="3844576" y="3580679"/>
            <a:ext cx="2251271" cy="396960"/>
          </a:xfrm>
          <a:prstGeom prst="line">
            <a:avLst/>
          </a:prstGeom>
          <a:ln w="19050">
            <a:solidFill>
              <a:srgbClr val="5464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 flipV="1">
            <a:off x="4626434" y="2226461"/>
            <a:ext cx="1469413" cy="1751178"/>
          </a:xfrm>
          <a:prstGeom prst="line">
            <a:avLst/>
          </a:prstGeom>
          <a:ln w="19050">
            <a:solidFill>
              <a:srgbClr val="DB8A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5318607" y="3200399"/>
            <a:ext cx="1554480" cy="1554480"/>
          </a:xfrm>
          <a:prstGeom prst="ellipse">
            <a:avLst/>
          </a:prstGeom>
          <a:solidFill>
            <a:srgbClr val="0F2A44"/>
          </a:solidFill>
          <a:ln w="317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500">
                <a:solidFill>
                  <a:srgbClr val="FFFFFF"/>
                </a:solidFill>
                <a:latin typeface="Segoe UI"/>
              </a:rPr>
              <a:t>EduNexus</a:t>
            </a:r>
          </a:p>
        </p:txBody>
      </p:sp>
      <p:sp>
        <p:nvSpPr>
          <p:cNvPr id="16" name="Oval 15"/>
          <p:cNvSpPr/>
          <p:nvPr/>
        </p:nvSpPr>
        <p:spPr>
          <a:xfrm>
            <a:off x="5720943" y="1316735"/>
            <a:ext cx="749808" cy="749808"/>
          </a:xfrm>
          <a:prstGeom prst="ellipse">
            <a:avLst/>
          </a:prstGeom>
          <a:solidFill>
            <a:srgbClr val="2F6FED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c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5901" y="1481693"/>
            <a:ext cx="419892" cy="41989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318607" y="777239"/>
            <a:ext cx="1554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050" b="1" i="0">
                <a:solidFill>
                  <a:srgbClr val="0F2A44"/>
                </a:solidFill>
                <a:latin typeface="Segoe UI"/>
              </a:rPr>
              <a:t>Admissions</a:t>
            </a:r>
          </a:p>
        </p:txBody>
      </p:sp>
      <p:sp>
        <p:nvSpPr>
          <p:cNvPr id="19" name="Oval 18"/>
          <p:cNvSpPr/>
          <p:nvPr/>
        </p:nvSpPr>
        <p:spPr>
          <a:xfrm>
            <a:off x="7190355" y="1851557"/>
            <a:ext cx="749808" cy="749808"/>
          </a:xfrm>
          <a:prstGeom prst="ellipse">
            <a:avLst/>
          </a:prstGeom>
          <a:solidFill>
            <a:srgbClr val="0EA99E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peo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5313" y="2016515"/>
            <a:ext cx="419892" cy="41989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788019" y="1312061"/>
            <a:ext cx="1554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050" b="1" i="0">
                <a:solidFill>
                  <a:srgbClr val="0F2A44"/>
                </a:solidFill>
                <a:latin typeface="Segoe UI"/>
              </a:rPr>
              <a:t>Students &amp; Family</a:t>
            </a:r>
          </a:p>
        </p:txBody>
      </p:sp>
      <p:sp>
        <p:nvSpPr>
          <p:cNvPr id="22" name="Oval 21"/>
          <p:cNvSpPr/>
          <p:nvPr/>
        </p:nvSpPr>
        <p:spPr>
          <a:xfrm>
            <a:off x="7972213" y="3205775"/>
            <a:ext cx="749808" cy="749808"/>
          </a:xfrm>
          <a:prstGeom prst="ellipse">
            <a:avLst/>
          </a:prstGeom>
          <a:solidFill>
            <a:srgbClr val="7C5CFC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lay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7171" y="3370733"/>
            <a:ext cx="419892" cy="41989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569877" y="4083599"/>
            <a:ext cx="1554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050" b="1" i="0">
                <a:solidFill>
                  <a:srgbClr val="0F2A44"/>
                </a:solidFill>
                <a:latin typeface="Segoe UI"/>
              </a:rPr>
              <a:t>Academics</a:t>
            </a:r>
          </a:p>
        </p:txBody>
      </p:sp>
      <p:sp>
        <p:nvSpPr>
          <p:cNvPr id="25" name="Oval 24"/>
          <p:cNvSpPr/>
          <p:nvPr/>
        </p:nvSpPr>
        <p:spPr>
          <a:xfrm>
            <a:off x="7700677" y="4745735"/>
            <a:ext cx="749808" cy="749808"/>
          </a:xfrm>
          <a:prstGeom prst="ellipse">
            <a:avLst/>
          </a:prstGeom>
          <a:solidFill>
            <a:srgbClr val="E84B5B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med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5635" y="4910693"/>
            <a:ext cx="419892" cy="41989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298341" y="5623559"/>
            <a:ext cx="1554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050" b="1" i="0">
                <a:solidFill>
                  <a:srgbClr val="0F2A44"/>
                </a:solidFill>
                <a:latin typeface="Segoe UI"/>
              </a:rPr>
              <a:t>Teaching &amp; Exams</a:t>
            </a:r>
          </a:p>
        </p:txBody>
      </p:sp>
      <p:sp>
        <p:nvSpPr>
          <p:cNvPr id="28" name="Oval 27"/>
          <p:cNvSpPr/>
          <p:nvPr/>
        </p:nvSpPr>
        <p:spPr>
          <a:xfrm>
            <a:off x="6502801" y="5750872"/>
            <a:ext cx="749808" cy="749808"/>
          </a:xfrm>
          <a:prstGeom prst="ellipse">
            <a:avLst/>
          </a:prstGeom>
          <a:solidFill>
            <a:srgbClr val="1FA95C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walle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7759" y="5915830"/>
            <a:ext cx="419892" cy="419892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100465" y="6628696"/>
            <a:ext cx="1554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050" b="1" i="0">
                <a:solidFill>
                  <a:srgbClr val="0F2A44"/>
                </a:solidFill>
                <a:latin typeface="Segoe UI"/>
              </a:rPr>
              <a:t>Finance</a:t>
            </a:r>
          </a:p>
        </p:txBody>
      </p:sp>
      <p:sp>
        <p:nvSpPr>
          <p:cNvPr id="31" name="Oval 30"/>
          <p:cNvSpPr/>
          <p:nvPr/>
        </p:nvSpPr>
        <p:spPr>
          <a:xfrm>
            <a:off x="4939084" y="5750872"/>
            <a:ext cx="749808" cy="749808"/>
          </a:xfrm>
          <a:prstGeom prst="ellipse">
            <a:avLst/>
          </a:prstGeom>
          <a:solidFill>
            <a:srgbClr val="E04793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cha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04042" y="5915830"/>
            <a:ext cx="419892" cy="419892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4536748" y="6628696"/>
            <a:ext cx="1554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050" b="1" i="0">
                <a:solidFill>
                  <a:srgbClr val="0F2A44"/>
                </a:solidFill>
                <a:latin typeface="Segoe UI"/>
              </a:rPr>
              <a:t>Communication</a:t>
            </a:r>
          </a:p>
        </p:txBody>
      </p:sp>
      <p:sp>
        <p:nvSpPr>
          <p:cNvPr id="34" name="Oval 33"/>
          <p:cNvSpPr/>
          <p:nvPr/>
        </p:nvSpPr>
        <p:spPr>
          <a:xfrm>
            <a:off x="3741208" y="4745735"/>
            <a:ext cx="749808" cy="749808"/>
          </a:xfrm>
          <a:prstGeom prst="ellipse">
            <a:avLst/>
          </a:prstGeom>
          <a:solidFill>
            <a:srgbClr val="5357E8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sparkl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06166" y="4910693"/>
            <a:ext cx="419892" cy="419892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3338872" y="5623559"/>
            <a:ext cx="1554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050" b="1" i="0">
                <a:solidFill>
                  <a:srgbClr val="0F2A44"/>
                </a:solidFill>
                <a:latin typeface="Segoe UI"/>
              </a:rPr>
              <a:t>AI &amp; Automation</a:t>
            </a:r>
          </a:p>
        </p:txBody>
      </p:sp>
      <p:sp>
        <p:nvSpPr>
          <p:cNvPr id="37" name="Oval 36"/>
          <p:cNvSpPr/>
          <p:nvPr/>
        </p:nvSpPr>
        <p:spPr>
          <a:xfrm>
            <a:off x="3469672" y="3205775"/>
            <a:ext cx="749808" cy="749808"/>
          </a:xfrm>
          <a:prstGeom prst="ellipse">
            <a:avLst/>
          </a:prstGeom>
          <a:solidFill>
            <a:srgbClr val="54647D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shiel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34630" y="3370733"/>
            <a:ext cx="419892" cy="419892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3067336" y="4083599"/>
            <a:ext cx="1554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050" b="1" i="0">
                <a:solidFill>
                  <a:srgbClr val="0F2A44"/>
                </a:solidFill>
                <a:latin typeface="Segoe UI"/>
              </a:rPr>
              <a:t>Admin &amp; Security</a:t>
            </a:r>
          </a:p>
        </p:txBody>
      </p:sp>
      <p:sp>
        <p:nvSpPr>
          <p:cNvPr id="40" name="Oval 39"/>
          <p:cNvSpPr/>
          <p:nvPr/>
        </p:nvSpPr>
        <p:spPr>
          <a:xfrm>
            <a:off x="4251530" y="1851557"/>
            <a:ext cx="749808" cy="749808"/>
          </a:xfrm>
          <a:prstGeom prst="ellipse">
            <a:avLst/>
          </a:prstGeom>
          <a:solidFill>
            <a:srgbClr val="DB8A0B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glob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16488" y="2016515"/>
            <a:ext cx="419892" cy="419892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3849194" y="1312061"/>
            <a:ext cx="1554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050" b="1" i="0">
                <a:solidFill>
                  <a:srgbClr val="0F2A44"/>
                </a:solidFill>
                <a:latin typeface="Segoe UI"/>
              </a:rPr>
              <a:t>Public &amp; Roadmap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EduNexus  •  Advanced Platform Overview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384048" cy="54864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B020"/>
                </a:solidFill>
                <a:latin typeface="Segoe UI"/>
              </a:rPr>
              <a:t>USER PERSONAS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F2A44"/>
                </a:solidFill>
                <a:latin typeface="Segoe UI"/>
              </a:rPr>
              <a:t>Who Uses EduNexus</a:t>
            </a:r>
          </a:p>
        </p:txBody>
      </p:sp>
      <p:sp>
        <p:nvSpPr>
          <p:cNvPr id="6" name="Rectangle 5"/>
          <p:cNvSpPr/>
          <p:nvPr/>
        </p:nvSpPr>
        <p:spPr>
          <a:xfrm>
            <a:off x="589788" y="1929383"/>
            <a:ext cx="3515258" cy="2148840"/>
          </a:xfrm>
          <a:prstGeom prst="rect">
            <a:avLst/>
          </a:prstGeom>
          <a:solidFill>
            <a:srgbClr val="DC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874519"/>
            <a:ext cx="3515258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40664" y="2066543"/>
            <a:ext cx="530352" cy="530352"/>
          </a:xfrm>
          <a:prstGeom prst="ellipse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h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342" y="2183221"/>
            <a:ext cx="296997" cy="29699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9808" y="2660903"/>
            <a:ext cx="314949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F2A44"/>
                </a:solidFill>
                <a:latin typeface="Segoe UI"/>
              </a:rPr>
              <a:t>Super Admin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081527"/>
            <a:ext cx="314949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5B6472"/>
                </a:solidFill>
                <a:latin typeface="Segoe UI"/>
              </a:rPr>
              <a:t>Full control across every organization and school on the platform.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79366" y="1929383"/>
            <a:ext cx="3515258" cy="2148840"/>
          </a:xfrm>
          <a:prstGeom prst="rect">
            <a:avLst/>
          </a:prstGeom>
          <a:solidFill>
            <a:srgbClr val="DC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38218" y="1874519"/>
            <a:ext cx="3515258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30242" y="2066543"/>
            <a:ext cx="530352" cy="530352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build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6920" y="2183221"/>
            <a:ext cx="296997" cy="296997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539386" y="2660903"/>
            <a:ext cx="314949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F2A44"/>
                </a:solidFill>
                <a:latin typeface="Segoe UI"/>
              </a:rPr>
              <a:t>Organization Admin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39386" y="3081527"/>
            <a:ext cx="314949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5B6472"/>
                </a:solidFill>
                <a:latin typeface="Segoe UI"/>
              </a:rPr>
              <a:t>Oversees multiple schools within one education group.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68944" y="1929383"/>
            <a:ext cx="3515258" cy="2148840"/>
          </a:xfrm>
          <a:prstGeom prst="rect">
            <a:avLst/>
          </a:prstGeom>
          <a:solidFill>
            <a:srgbClr val="DC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127796" y="1874519"/>
            <a:ext cx="3515258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319820" y="2066543"/>
            <a:ext cx="530352" cy="530352"/>
          </a:xfrm>
          <a:prstGeom prst="ellipse">
            <a:avLst/>
          </a:prstGeom>
          <a:solidFill>
            <a:srgbClr val="7C5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lay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6498" y="2183221"/>
            <a:ext cx="296997" cy="296997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328964" y="2660903"/>
            <a:ext cx="314949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F2A44"/>
                </a:solidFill>
                <a:latin typeface="Segoe UI"/>
              </a:rPr>
              <a:t>School Admin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8964" y="3081527"/>
            <a:ext cx="314949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5B6472"/>
                </a:solidFill>
                <a:latin typeface="Segoe UI"/>
              </a:rPr>
              <a:t>Runs day-to-day operations for a single school.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9788" y="4352543"/>
            <a:ext cx="3515258" cy="2148840"/>
          </a:xfrm>
          <a:prstGeom prst="rect">
            <a:avLst/>
          </a:prstGeom>
          <a:solidFill>
            <a:srgbClr val="DC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48640" y="4297679"/>
            <a:ext cx="3515258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40664" y="4489703"/>
            <a:ext cx="530352" cy="530352"/>
          </a:xfrm>
          <a:prstGeom prst="ellipse">
            <a:avLst/>
          </a:prstGeom>
          <a:solidFill>
            <a:srgbClr val="E84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c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342" y="4606381"/>
            <a:ext cx="296997" cy="296997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49808" y="5084063"/>
            <a:ext cx="314949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F2A44"/>
                </a:solidFill>
                <a:latin typeface="Segoe UI"/>
              </a:rPr>
              <a:t>Teacher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5504687"/>
            <a:ext cx="314949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5B6472"/>
                </a:solidFill>
                <a:latin typeface="Segoe UI"/>
              </a:rPr>
              <a:t>Manages classes, attendance, homework, lesson plans, and marks.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79366" y="4352543"/>
            <a:ext cx="3515258" cy="2148840"/>
          </a:xfrm>
          <a:prstGeom prst="rect">
            <a:avLst/>
          </a:prstGeom>
          <a:solidFill>
            <a:srgbClr val="DC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338218" y="4297679"/>
            <a:ext cx="3515258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530242" y="4489703"/>
            <a:ext cx="530352" cy="530352"/>
          </a:xfrm>
          <a:prstGeom prst="ellipse">
            <a:avLst/>
          </a:prstGeom>
          <a:solidFill>
            <a:srgbClr val="0EA9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peop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6920" y="4606381"/>
            <a:ext cx="296997" cy="296997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4539386" y="5084063"/>
            <a:ext cx="314949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F2A44"/>
                </a:solidFill>
                <a:latin typeface="Segoe UI"/>
              </a:rPr>
              <a:t>Parent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39386" y="5504687"/>
            <a:ext cx="314949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5B6472"/>
                </a:solidFill>
                <a:latin typeface="Segoe UI"/>
              </a:rPr>
              <a:t>Portal access to a child's academics, attendance, fees, and updates.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68944" y="4352543"/>
            <a:ext cx="3515258" cy="2148840"/>
          </a:xfrm>
          <a:prstGeom prst="rect">
            <a:avLst/>
          </a:prstGeom>
          <a:solidFill>
            <a:srgbClr val="DC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127796" y="4297679"/>
            <a:ext cx="3515258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319820" y="4489703"/>
            <a:ext cx="530352" cy="530352"/>
          </a:xfrm>
          <a:prstGeom prst="ellipse">
            <a:avLst/>
          </a:prstGeom>
          <a:solidFill>
            <a:srgbClr val="DB8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meda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36498" y="4606381"/>
            <a:ext cx="296997" cy="29699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8328964" y="5084063"/>
            <a:ext cx="314949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F2A44"/>
                </a:solidFill>
                <a:latin typeface="Segoe UI"/>
              </a:rPr>
              <a:t>Student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28964" y="5504687"/>
            <a:ext cx="314949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5B6472"/>
                </a:solidFill>
                <a:latin typeface="Segoe UI"/>
              </a:rPr>
              <a:t>Access to courses, assignments, results, and notices.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EduNexus  •  Advanced Platform Overview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81829"/>
              </a:gs>
              <a:gs pos="100000">
                <a:srgbClr val="0F2A44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14255" y="-2011680"/>
            <a:ext cx="5669280" cy="5669280"/>
          </a:xfrm>
          <a:prstGeom prst="ellipse">
            <a:avLst/>
          </a:prstGeom>
          <a:solidFill>
            <a:srgbClr val="2F6FED"/>
            <a:alpha val="1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828800" y="4663440"/>
            <a:ext cx="4023360" cy="4023360"/>
          </a:xfrm>
          <a:prstGeom prst="ellipse">
            <a:avLst/>
          </a:prstGeom>
          <a:solidFill>
            <a:srgbClr val="FFB020"/>
            <a:alpha val="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1520" y="1188719"/>
            <a:ext cx="1371600" cy="1371600"/>
          </a:xfrm>
          <a:prstGeom prst="ellipse">
            <a:avLst/>
          </a:prstGeom>
          <a:solidFill>
            <a:srgbClr val="2F6FED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" y="1531619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2788920"/>
            <a:ext cx="2011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2A4C74"/>
                </a:solidFill>
                <a:latin typeface="Segoe UI"/>
              </a:rPr>
              <a:t>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3657600"/>
            <a:ext cx="640080" cy="54864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3840480"/>
            <a:ext cx="9875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FFFFFF"/>
                </a:solidFill>
                <a:latin typeface="Segoe UI"/>
              </a:rPr>
              <a:t>Admissions &amp; Enrollment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553712"/>
            <a:ext cx="8961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B9C6D9"/>
                </a:solidFill>
                <a:latin typeface="Segoe UI"/>
              </a:rPr>
              <a:t>From first enquiry to enrolled student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B9C6D9"/>
                </a:solidFill>
                <a:latin typeface="Segoe UI"/>
              </a:rPr>
              <a:t>EduNexus  •  Advanced Platform Overview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B9C6D9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384048" cy="54864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ED"/>
                </a:solidFill>
                <a:latin typeface="Segoe UI"/>
              </a:rPr>
              <a:t>ADMISSIONS &amp; ENROLLMENT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F2A44"/>
                </a:solidFill>
                <a:latin typeface="Segoe UI"/>
              </a:rPr>
              <a:t>The Enrollment Journey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961388"/>
            <a:ext cx="1544269" cy="960120"/>
          </a:xfrm>
          <a:prstGeom prst="rect">
            <a:avLst/>
          </a:prstGeom>
          <a:solidFill>
            <a:srgbClr val="DC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920240"/>
            <a:ext cx="1544269" cy="960120"/>
          </a:xfrm>
          <a:prstGeom prst="roundRect">
            <a:avLst>
              <a:gd name="adj" fmla="val 22000"/>
            </a:avLst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h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2048256"/>
            <a:ext cx="329184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76656" y="2450592"/>
            <a:ext cx="128823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Segoe UI"/>
              </a:rPr>
              <a:t>Enquiry</a:t>
            </a:r>
          </a:p>
        </p:txBody>
      </p:sp>
      <p:sp>
        <p:nvSpPr>
          <p:cNvPr id="10" name="Chevron 9"/>
          <p:cNvSpPr/>
          <p:nvPr/>
        </p:nvSpPr>
        <p:spPr>
          <a:xfrm>
            <a:off x="2092909" y="2217420"/>
            <a:ext cx="365760" cy="365760"/>
          </a:xfrm>
          <a:prstGeom prst="chevron">
            <a:avLst/>
          </a:prstGeom>
          <a:solidFill>
            <a:srgbClr val="B7C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486101" y="1961388"/>
            <a:ext cx="1544269" cy="960120"/>
          </a:xfrm>
          <a:prstGeom prst="rect">
            <a:avLst/>
          </a:prstGeom>
          <a:solidFill>
            <a:srgbClr val="DC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458669" y="1920240"/>
            <a:ext cx="1544269" cy="960120"/>
          </a:xfrm>
          <a:prstGeom prst="roundRect">
            <a:avLst>
              <a:gd name="adj" fmla="val 22000"/>
            </a:avLst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funn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4973" y="2048256"/>
            <a:ext cx="329184" cy="32918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586685" y="2450592"/>
            <a:ext cx="128823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Segoe UI"/>
              </a:rPr>
              <a:t>Pipeline</a:t>
            </a:r>
          </a:p>
        </p:txBody>
      </p:sp>
      <p:sp>
        <p:nvSpPr>
          <p:cNvPr id="15" name="Chevron 14"/>
          <p:cNvSpPr/>
          <p:nvPr/>
        </p:nvSpPr>
        <p:spPr>
          <a:xfrm>
            <a:off x="4002938" y="2217420"/>
            <a:ext cx="365760" cy="365760"/>
          </a:xfrm>
          <a:prstGeom prst="chevron">
            <a:avLst/>
          </a:prstGeom>
          <a:solidFill>
            <a:srgbClr val="B7C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6130" y="1961388"/>
            <a:ext cx="1544269" cy="960120"/>
          </a:xfrm>
          <a:prstGeom prst="rect">
            <a:avLst/>
          </a:prstGeom>
          <a:solidFill>
            <a:srgbClr val="DC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68698" y="1920240"/>
            <a:ext cx="1544269" cy="960120"/>
          </a:xfrm>
          <a:prstGeom prst="roundRect">
            <a:avLst>
              <a:gd name="adj" fmla="val 22000"/>
            </a:avLst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be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5002" y="2048256"/>
            <a:ext cx="329184" cy="32918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496714" y="2450592"/>
            <a:ext cx="128823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Segoe UI"/>
              </a:rPr>
              <a:t>Follow-up</a:t>
            </a:r>
          </a:p>
        </p:txBody>
      </p:sp>
      <p:sp>
        <p:nvSpPr>
          <p:cNvPr id="20" name="Chevron 19"/>
          <p:cNvSpPr/>
          <p:nvPr/>
        </p:nvSpPr>
        <p:spPr>
          <a:xfrm>
            <a:off x="5912967" y="2217420"/>
            <a:ext cx="365760" cy="365760"/>
          </a:xfrm>
          <a:prstGeom prst="chevron">
            <a:avLst/>
          </a:prstGeom>
          <a:solidFill>
            <a:srgbClr val="B7C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6159" y="1961388"/>
            <a:ext cx="1544269" cy="960120"/>
          </a:xfrm>
          <a:prstGeom prst="rect">
            <a:avLst/>
          </a:prstGeom>
          <a:solidFill>
            <a:srgbClr val="DC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78727" y="1920240"/>
            <a:ext cx="1544269" cy="960120"/>
          </a:xfrm>
          <a:prstGeom prst="roundRect">
            <a:avLst>
              <a:gd name="adj" fmla="val 22000"/>
            </a:avLst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do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5031" y="2048256"/>
            <a:ext cx="329184" cy="32918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406743" y="2450592"/>
            <a:ext cx="128823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Segoe UI"/>
              </a:rPr>
              <a:t>Application</a:t>
            </a:r>
          </a:p>
        </p:txBody>
      </p:sp>
      <p:sp>
        <p:nvSpPr>
          <p:cNvPr id="25" name="Chevron 24"/>
          <p:cNvSpPr/>
          <p:nvPr/>
        </p:nvSpPr>
        <p:spPr>
          <a:xfrm>
            <a:off x="7822996" y="2217420"/>
            <a:ext cx="365760" cy="365760"/>
          </a:xfrm>
          <a:prstGeom prst="chevron">
            <a:avLst/>
          </a:prstGeom>
          <a:solidFill>
            <a:srgbClr val="B7C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16188" y="1961388"/>
            <a:ext cx="1544269" cy="960120"/>
          </a:xfrm>
          <a:prstGeom prst="rect">
            <a:avLst/>
          </a:prstGeom>
          <a:solidFill>
            <a:srgbClr val="DC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188756" y="1920240"/>
            <a:ext cx="1544269" cy="960120"/>
          </a:xfrm>
          <a:prstGeom prst="roundRect">
            <a:avLst>
              <a:gd name="adj" fmla="val 22000"/>
            </a:avLst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35060" y="2048256"/>
            <a:ext cx="329184" cy="329184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316772" y="2450592"/>
            <a:ext cx="128823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Segoe UI"/>
              </a:rPr>
              <a:t>Confirmed</a:t>
            </a:r>
          </a:p>
        </p:txBody>
      </p:sp>
      <p:sp>
        <p:nvSpPr>
          <p:cNvPr id="30" name="Chevron 29"/>
          <p:cNvSpPr/>
          <p:nvPr/>
        </p:nvSpPr>
        <p:spPr>
          <a:xfrm>
            <a:off x="9733025" y="2217420"/>
            <a:ext cx="365760" cy="365760"/>
          </a:xfrm>
          <a:prstGeom prst="chevron">
            <a:avLst/>
          </a:prstGeom>
          <a:solidFill>
            <a:srgbClr val="B7C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126217" y="1961388"/>
            <a:ext cx="1544269" cy="960120"/>
          </a:xfrm>
          <a:prstGeom prst="rect">
            <a:avLst/>
          </a:prstGeom>
          <a:solidFill>
            <a:srgbClr val="DC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0098785" y="1920240"/>
            <a:ext cx="1544269" cy="960120"/>
          </a:xfrm>
          <a:prstGeom prst="roundRect">
            <a:avLst>
              <a:gd name="adj" fmla="val 22000"/>
            </a:avLst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arro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45089" y="2048256"/>
            <a:ext cx="329184" cy="329184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0226801" y="2450592"/>
            <a:ext cx="128823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Segoe UI"/>
              </a:rPr>
              <a:t>Converted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324612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5B6472"/>
                </a:solidFill>
                <a:latin typeface="Segoe UI"/>
              </a:rPr>
              <a:t>Every lead moves through a single, trackable pipeline — from first enquiry to a fully enrolled student record.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89789" y="3941064"/>
            <a:ext cx="2595295" cy="2331720"/>
          </a:xfrm>
          <a:prstGeom prst="rect">
            <a:avLst/>
          </a:prstGeom>
          <a:solidFill>
            <a:srgbClr val="DC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48641" y="3886200"/>
            <a:ext cx="2595295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40665" y="4078224"/>
            <a:ext cx="530352" cy="530352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funn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343" y="4194902"/>
            <a:ext cx="296997" cy="29699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749809" y="4672584"/>
            <a:ext cx="2229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0F2A44"/>
                </a:solidFill>
                <a:latin typeface="Segoe UI"/>
              </a:rPr>
              <a:t>Admissions Hub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9809" y="5093208"/>
            <a:ext cx="222953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5B6472"/>
                </a:solidFill>
                <a:latin typeface="Segoe UI"/>
              </a:rPr>
              <a:t>Captures enquiries and manages the full pipeline, follow-ups, and internal &amp; external applications.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422828" y="3941064"/>
            <a:ext cx="2595295" cy="2331720"/>
          </a:xfrm>
          <a:prstGeom prst="rect">
            <a:avLst/>
          </a:prstGeom>
          <a:solidFill>
            <a:srgbClr val="DC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3381680" y="3886200"/>
            <a:ext cx="2595295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3573704" y="4078224"/>
            <a:ext cx="530352" cy="530352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90382" y="4194902"/>
            <a:ext cx="296997" cy="296997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3582848" y="4672584"/>
            <a:ext cx="2229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0F2A44"/>
                </a:solidFill>
                <a:latin typeface="Segoe UI"/>
              </a:rPr>
              <a:t>Live Dashboard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582848" y="5093208"/>
            <a:ext cx="222953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5B6472"/>
                </a:solidFill>
                <a:latin typeface="Segoe UI"/>
              </a:rPr>
              <a:t>Real-time view of leads, applications, conversion rate, seat occupancy, and waitlists.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55867" y="3941064"/>
            <a:ext cx="2595295" cy="2331720"/>
          </a:xfrm>
          <a:prstGeom prst="rect">
            <a:avLst/>
          </a:prstGeom>
          <a:solidFill>
            <a:srgbClr val="DC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214719" y="3886200"/>
            <a:ext cx="2595295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406743" y="4078224"/>
            <a:ext cx="530352" cy="530352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arro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3421" y="4194902"/>
            <a:ext cx="296997" cy="296997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6415887" y="4672584"/>
            <a:ext cx="2229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0F2A44"/>
                </a:solidFill>
                <a:latin typeface="Segoe UI"/>
              </a:rPr>
              <a:t>Conversion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15887" y="5093208"/>
            <a:ext cx="222953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5B6472"/>
                </a:solidFill>
                <a:latin typeface="Segoe UI"/>
              </a:rPr>
              <a:t>Admitted applicants convert directly into official student records — no duplicate entry.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088906" y="3941064"/>
            <a:ext cx="2595295" cy="2331720"/>
          </a:xfrm>
          <a:prstGeom prst="rect">
            <a:avLst/>
          </a:prstGeom>
          <a:solidFill>
            <a:srgbClr val="DC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9047758" y="3886200"/>
            <a:ext cx="2595295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9239782" y="4078224"/>
            <a:ext cx="530352" cy="530352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Picture 56" descr="do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56460" y="4194902"/>
            <a:ext cx="296997" cy="296997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9248926" y="4672584"/>
            <a:ext cx="2229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0F2A44"/>
                </a:solidFill>
                <a:latin typeface="Segoe UI"/>
              </a:rPr>
              <a:t>Form Builder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248926" y="5093208"/>
            <a:ext cx="222953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5B6472"/>
                </a:solidFill>
                <a:latin typeface="Segoe UI"/>
              </a:rPr>
              <a:t>Drag-and-drop designer for public forms with shareable links, AI-assisted creation, and analytics.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EduNexus  •  Advanced Platform Overview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81829"/>
              </a:gs>
              <a:gs pos="100000">
                <a:srgbClr val="0F2A44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14255" y="-2011680"/>
            <a:ext cx="5669280" cy="5669280"/>
          </a:xfrm>
          <a:prstGeom prst="ellipse">
            <a:avLst/>
          </a:prstGeom>
          <a:solidFill>
            <a:srgbClr val="0EA99E"/>
            <a:alpha val="1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828800" y="4663440"/>
            <a:ext cx="4023360" cy="4023360"/>
          </a:xfrm>
          <a:prstGeom prst="ellipse">
            <a:avLst/>
          </a:prstGeom>
          <a:solidFill>
            <a:srgbClr val="FFB020"/>
            <a:alpha val="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A9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1520" y="1188719"/>
            <a:ext cx="1371600" cy="1371600"/>
          </a:xfrm>
          <a:prstGeom prst="ellipse">
            <a:avLst/>
          </a:prstGeom>
          <a:solidFill>
            <a:srgbClr val="0EA99E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eo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" y="1531619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2788920"/>
            <a:ext cx="2011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2A4C74"/>
                </a:solidFill>
                <a:latin typeface="Segoe UI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3657600"/>
            <a:ext cx="640080" cy="54864"/>
          </a:xfrm>
          <a:prstGeom prst="rect">
            <a:avLst/>
          </a:prstGeom>
          <a:solidFill>
            <a:srgbClr val="0EA9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3840480"/>
            <a:ext cx="9875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FFFFFF"/>
                </a:solidFill>
                <a:latin typeface="Segoe UI"/>
              </a:rPr>
              <a:t>Student, Staff &amp; Family Records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553712"/>
            <a:ext cx="8961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B9C6D9"/>
                </a:solidFill>
                <a:latin typeface="Segoe UI"/>
              </a:rPr>
              <a:t>A single source of truth for people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B9C6D9"/>
                </a:solidFill>
                <a:latin typeface="Segoe UI"/>
              </a:rPr>
              <a:t>EduNexus  •  Advanced Platform Overview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B9C6D9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384048" cy="54864"/>
          </a:xfrm>
          <a:prstGeom prst="rect">
            <a:avLst/>
          </a:prstGeom>
          <a:solidFill>
            <a:srgbClr val="0EA9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EA99E"/>
                </a:solidFill>
                <a:latin typeface="Segoe UI"/>
              </a:rPr>
              <a:t>STUDENT, STAFF &amp; FAMILY RECORDS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F2A44"/>
                </a:solidFill>
                <a:latin typeface="Segoe UI"/>
              </a:rPr>
              <a:t>A Single Source of Truth for People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89789" y="1837944"/>
            <a:ext cx="2595295" cy="2331720"/>
          </a:xfrm>
          <a:prstGeom prst="rect">
            <a:avLst/>
          </a:prstGeom>
          <a:solidFill>
            <a:srgbClr val="DC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1" y="1783080"/>
            <a:ext cx="2595295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40665" y="1975104"/>
            <a:ext cx="530352" cy="530352"/>
          </a:xfrm>
          <a:prstGeom prst="ellipse">
            <a:avLst/>
          </a:prstGeom>
          <a:solidFill>
            <a:srgbClr val="0EA9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eo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343" y="2091782"/>
            <a:ext cx="296997" cy="29699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9809" y="2569464"/>
            <a:ext cx="2229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0F2A44"/>
                </a:solidFill>
                <a:latin typeface="Segoe UI"/>
              </a:rPr>
              <a:t>Students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9" y="2990088"/>
            <a:ext cx="222953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5B6472"/>
                </a:solidFill>
                <a:latin typeface="Segoe UI"/>
              </a:rPr>
              <a:t>The core student information system — profiles, lifecycle status, and fast search by admission or roll number.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22828" y="1837944"/>
            <a:ext cx="2595295" cy="2331720"/>
          </a:xfrm>
          <a:prstGeom prst="rect">
            <a:avLst/>
          </a:prstGeom>
          <a:solidFill>
            <a:srgbClr val="DC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81680" y="1783080"/>
            <a:ext cx="2595295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73704" y="1975104"/>
            <a:ext cx="530352" cy="530352"/>
          </a:xfrm>
          <a:prstGeom prst="ellipse">
            <a:avLst/>
          </a:prstGeom>
          <a:solidFill>
            <a:srgbClr val="0EA9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c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0382" y="2091782"/>
            <a:ext cx="296997" cy="296997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582848" y="2569464"/>
            <a:ext cx="2229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0F2A44"/>
                </a:solidFill>
                <a:latin typeface="Segoe UI"/>
              </a:rPr>
              <a:t>Teachers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82848" y="2990088"/>
            <a:ext cx="222953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5B6472"/>
                </a:solidFill>
                <a:latin typeface="Segoe UI"/>
              </a:rPr>
              <a:t>Academic staff roster and profiles, linked to HR employee records.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55867" y="1837944"/>
            <a:ext cx="2595295" cy="2331720"/>
          </a:xfrm>
          <a:prstGeom prst="rect">
            <a:avLst/>
          </a:prstGeom>
          <a:solidFill>
            <a:srgbClr val="DC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14719" y="1783080"/>
            <a:ext cx="2595295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06743" y="1975104"/>
            <a:ext cx="530352" cy="530352"/>
          </a:xfrm>
          <a:prstGeom prst="ellipse">
            <a:avLst/>
          </a:prstGeom>
          <a:solidFill>
            <a:srgbClr val="0EA9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peo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3421" y="2091782"/>
            <a:ext cx="296997" cy="296997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415887" y="2569464"/>
            <a:ext cx="2229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0F2A44"/>
                </a:solidFill>
                <a:latin typeface="Segoe UI"/>
              </a:rPr>
              <a:t>Parents &amp; Guardians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5887" y="2990088"/>
            <a:ext cx="222953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5B6472"/>
                </a:solidFill>
                <a:latin typeface="Segoe UI"/>
              </a:rPr>
              <a:t>Guardian and household management with parent-portal access and pickup authorization.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88906" y="1837944"/>
            <a:ext cx="2595295" cy="2331720"/>
          </a:xfrm>
          <a:prstGeom prst="rect">
            <a:avLst/>
          </a:prstGeom>
          <a:solidFill>
            <a:srgbClr val="DC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047758" y="1783080"/>
            <a:ext cx="2595295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239782" y="1975104"/>
            <a:ext cx="530352" cy="530352"/>
          </a:xfrm>
          <a:prstGeom prst="ellipse">
            <a:avLst/>
          </a:prstGeom>
          <a:solidFill>
            <a:srgbClr val="0EA9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build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6460" y="2091782"/>
            <a:ext cx="296997" cy="296997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248926" y="2569464"/>
            <a:ext cx="2229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0F2A44"/>
                </a:solidFill>
                <a:latin typeface="Segoe UI"/>
              </a:rPr>
              <a:t>Staff (HRMS)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48926" y="2990088"/>
            <a:ext cx="222953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5B6472"/>
                </a:solidFill>
                <a:latin typeface="Segoe UI"/>
              </a:rPr>
              <a:t>Employee roster, onboarding, department/designation structure, and probation tracking.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EduNexus  •  Advanced Platform Overview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81829"/>
              </a:gs>
              <a:gs pos="100000">
                <a:srgbClr val="0F2A44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14255" y="-2011680"/>
            <a:ext cx="5669280" cy="5669280"/>
          </a:xfrm>
          <a:prstGeom prst="ellipse">
            <a:avLst/>
          </a:prstGeom>
          <a:solidFill>
            <a:srgbClr val="7C5CFC"/>
            <a:alpha val="1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828800" y="4663440"/>
            <a:ext cx="4023360" cy="4023360"/>
          </a:xfrm>
          <a:prstGeom prst="ellipse">
            <a:avLst/>
          </a:prstGeom>
          <a:solidFill>
            <a:srgbClr val="FFB020"/>
            <a:alpha val="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C5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1520" y="1188719"/>
            <a:ext cx="1371600" cy="1371600"/>
          </a:xfrm>
          <a:prstGeom prst="ellipse">
            <a:avLst/>
          </a:prstGeom>
          <a:solidFill>
            <a:srgbClr val="7C5CFC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ay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" y="1531619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2788920"/>
            <a:ext cx="2011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2A4C74"/>
                </a:solidFill>
                <a:latin typeface="Segoe UI"/>
              </a:rPr>
              <a:t>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3657600"/>
            <a:ext cx="640080" cy="54864"/>
          </a:xfrm>
          <a:prstGeom prst="rect">
            <a:avLst/>
          </a:prstGeom>
          <a:solidFill>
            <a:srgbClr val="7C5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3840480"/>
            <a:ext cx="9875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FFFFFF"/>
                </a:solidFill>
                <a:latin typeface="Segoe UI"/>
              </a:rPr>
              <a:t>Core Academic Operations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553712"/>
            <a:ext cx="8961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B9C6D9"/>
                </a:solidFill>
                <a:latin typeface="Segoe UI"/>
              </a:rPr>
              <a:t>Setting up and running the academic year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B9C6D9"/>
                </a:solidFill>
                <a:latin typeface="Segoe UI"/>
              </a:rPr>
              <a:t>EduNexus  •  Advanced Platform Overview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B9C6D9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384048" cy="54864"/>
          </a:xfrm>
          <a:prstGeom prst="rect">
            <a:avLst/>
          </a:prstGeom>
          <a:solidFill>
            <a:srgbClr val="7C5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C5CFC"/>
                </a:solidFill>
                <a:latin typeface="Segoe UI"/>
              </a:rPr>
              <a:t>CORE ACADEMIC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F2A44"/>
                </a:solidFill>
                <a:latin typeface="Segoe UI"/>
              </a:rPr>
              <a:t>Academic Setup, Scheduling &amp; Attendance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89788" y="1837944"/>
            <a:ext cx="3539642" cy="2112264"/>
          </a:xfrm>
          <a:prstGeom prst="rect">
            <a:avLst/>
          </a:prstGeom>
          <a:solidFill>
            <a:srgbClr val="DC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3539642" cy="21122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40664" y="1975104"/>
            <a:ext cx="530352" cy="530352"/>
          </a:xfrm>
          <a:prstGeom prst="ellipse">
            <a:avLst/>
          </a:prstGeom>
          <a:solidFill>
            <a:srgbClr val="7C5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ay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342" y="2091782"/>
            <a:ext cx="296997" cy="29699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9808" y="2569464"/>
            <a:ext cx="317388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F2A44"/>
                </a:solidFill>
                <a:latin typeface="Segoe UI"/>
              </a:rPr>
              <a:t>Academic Foundation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916936"/>
            <a:ext cx="3173882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80" b="0" i="0">
                <a:solidFill>
                  <a:srgbClr val="5B6472"/>
                </a:solidFill>
                <a:latin typeface="Segoe UI"/>
              </a:rPr>
              <a:t>Activates classes and sections each year; manages curriculum and calendar.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67174" y="1837944"/>
            <a:ext cx="3539642" cy="2112264"/>
          </a:xfrm>
          <a:prstGeom prst="rect">
            <a:avLst/>
          </a:prstGeom>
          <a:solidFill>
            <a:srgbClr val="DC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26026" y="1783080"/>
            <a:ext cx="3539642" cy="21122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18050" y="1975104"/>
            <a:ext cx="530352" cy="530352"/>
          </a:xfrm>
          <a:prstGeom prst="ellipse">
            <a:avLst/>
          </a:prstGeom>
          <a:solidFill>
            <a:srgbClr val="7C5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do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4728" y="2091782"/>
            <a:ext cx="296997" cy="296997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527194" y="2569464"/>
            <a:ext cx="317388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F2A44"/>
                </a:solidFill>
                <a:latin typeface="Segoe UI"/>
              </a:rPr>
              <a:t>Master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7194" y="2916936"/>
            <a:ext cx="3173882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80" b="0" i="0">
                <a:solidFill>
                  <a:srgbClr val="5B6472"/>
                </a:solidFill>
                <a:latin typeface="Segoe UI"/>
              </a:rPr>
              <a:t>Centralized reference data — locations, boards, subjects, streams, and departments.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44560" y="1837944"/>
            <a:ext cx="3539642" cy="2112264"/>
          </a:xfrm>
          <a:prstGeom prst="rect">
            <a:avLst/>
          </a:prstGeom>
          <a:solidFill>
            <a:srgbClr val="DC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103412" y="1783080"/>
            <a:ext cx="3539642" cy="21122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95436" y="1975104"/>
            <a:ext cx="530352" cy="530352"/>
          </a:xfrm>
          <a:prstGeom prst="ellipse">
            <a:avLst/>
          </a:prstGeom>
          <a:solidFill>
            <a:srgbClr val="7C5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glob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114" y="2091782"/>
            <a:ext cx="296997" cy="296997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304580" y="2569464"/>
            <a:ext cx="317388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F2A44"/>
                </a:solidFill>
                <a:latin typeface="Segoe UI"/>
              </a:rPr>
              <a:t>MDM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4580" y="2916936"/>
            <a:ext cx="3173882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80" b="0" i="0">
                <a:solidFill>
                  <a:srgbClr val="5B6472"/>
                </a:solidFill>
                <a:latin typeface="Segoe UI"/>
              </a:rPr>
              <a:t>Platform-wide catalog of boards, curricula &amp; grading schemes schools can adopt directly.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78481" y="4206240"/>
            <a:ext cx="3539642" cy="2112264"/>
          </a:xfrm>
          <a:prstGeom prst="rect">
            <a:avLst/>
          </a:prstGeom>
          <a:solidFill>
            <a:srgbClr val="DC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437333" y="4151376"/>
            <a:ext cx="3539642" cy="21122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629357" y="4343400"/>
            <a:ext cx="530352" cy="530352"/>
          </a:xfrm>
          <a:prstGeom prst="ellipse">
            <a:avLst/>
          </a:prstGeom>
          <a:solidFill>
            <a:srgbClr val="7C5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calend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6035" y="4460078"/>
            <a:ext cx="296997" cy="296997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2638501" y="4937760"/>
            <a:ext cx="317388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F2A44"/>
                </a:solidFill>
                <a:latin typeface="Segoe UI"/>
              </a:rPr>
              <a:t>Timetable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38501" y="5285232"/>
            <a:ext cx="3173882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80" b="0" i="0">
                <a:solidFill>
                  <a:srgbClr val="5B6472"/>
                </a:solidFill>
                <a:latin typeface="Segoe UI"/>
              </a:rPr>
              <a:t>Period-by-period scheduling with conflict detection and substitution management.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55867" y="4206240"/>
            <a:ext cx="3539642" cy="2112264"/>
          </a:xfrm>
          <a:prstGeom prst="rect">
            <a:avLst/>
          </a:prstGeom>
          <a:solidFill>
            <a:srgbClr val="DC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214719" y="4151376"/>
            <a:ext cx="3539642" cy="21122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406743" y="4343400"/>
            <a:ext cx="530352" cy="530352"/>
          </a:xfrm>
          <a:prstGeom prst="ellipse">
            <a:avLst/>
          </a:prstGeom>
          <a:solidFill>
            <a:srgbClr val="7C5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c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3421" y="4460078"/>
            <a:ext cx="296997" cy="296997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415887" y="4937760"/>
            <a:ext cx="317388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F2A44"/>
                </a:solidFill>
                <a:latin typeface="Segoe UI"/>
              </a:rPr>
              <a:t>Attendance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15887" y="5285232"/>
            <a:ext cx="3173882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80" b="0" i="0">
                <a:solidFill>
                  <a:srgbClr val="5B6472"/>
                </a:solidFill>
                <a:latin typeface="Segoe UI"/>
              </a:rPr>
              <a:t>One engine for Student, Teacher &amp; Employee attendance with daily dashboards and alerts.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EduNexus  •  Advanced Platform Overview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81829"/>
              </a:gs>
              <a:gs pos="100000">
                <a:srgbClr val="0F2A44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14255" y="-2011680"/>
            <a:ext cx="5669280" cy="5669280"/>
          </a:xfrm>
          <a:prstGeom prst="ellipse">
            <a:avLst/>
          </a:prstGeom>
          <a:solidFill>
            <a:srgbClr val="E84B5B"/>
            <a:alpha val="1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828800" y="4663440"/>
            <a:ext cx="4023360" cy="4023360"/>
          </a:xfrm>
          <a:prstGeom prst="ellipse">
            <a:avLst/>
          </a:prstGeom>
          <a:solidFill>
            <a:srgbClr val="FFB020"/>
            <a:alpha val="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4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1520" y="1188719"/>
            <a:ext cx="1371600" cy="1371600"/>
          </a:xfrm>
          <a:prstGeom prst="ellipse">
            <a:avLst/>
          </a:prstGeom>
          <a:solidFill>
            <a:srgbClr val="E84B5B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ed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" y="1531619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2788920"/>
            <a:ext cx="2011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2A4C74"/>
                </a:solidFill>
                <a:latin typeface="Segoe UI"/>
              </a:rPr>
              <a:t>04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3657600"/>
            <a:ext cx="640080" cy="54864"/>
          </a:xfrm>
          <a:prstGeom prst="rect">
            <a:avLst/>
          </a:prstGeom>
          <a:solidFill>
            <a:srgbClr val="E84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3840480"/>
            <a:ext cx="9875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FFFFFF"/>
                </a:solidFill>
                <a:latin typeface="Segoe UI"/>
              </a:rPr>
              <a:t>Teaching, Learning &amp; Assessment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553712"/>
            <a:ext cx="8961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B9C6D9"/>
                </a:solidFill>
                <a:latin typeface="Segoe UI"/>
              </a:rPr>
              <a:t>Course delivery, exams, and results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B9C6D9"/>
                </a:solidFill>
                <a:latin typeface="Segoe UI"/>
              </a:rPr>
              <a:t>EduNexus  •  Advanced Platform Overview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B9C6D9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384048" cy="54864"/>
          </a:xfrm>
          <a:prstGeom prst="rect">
            <a:avLst/>
          </a:prstGeom>
          <a:solidFill>
            <a:srgbClr val="E84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84B5B"/>
                </a:solidFill>
                <a:latin typeface="Segoe UI"/>
              </a:rPr>
              <a:t>TEACHING, LEARNING &amp;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F2A44"/>
                </a:solidFill>
                <a:latin typeface="Segoe UI"/>
              </a:rPr>
              <a:t>Learning Management (LMS)</a:t>
            </a:r>
          </a:p>
        </p:txBody>
      </p:sp>
      <p:sp>
        <p:nvSpPr>
          <p:cNvPr id="6" name="Rectangle 5"/>
          <p:cNvSpPr/>
          <p:nvPr/>
        </p:nvSpPr>
        <p:spPr>
          <a:xfrm>
            <a:off x="589789" y="1883664"/>
            <a:ext cx="2595295" cy="2331720"/>
          </a:xfrm>
          <a:prstGeom prst="rect">
            <a:avLst/>
          </a:prstGeom>
          <a:solidFill>
            <a:srgbClr val="DC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1" y="1828800"/>
            <a:ext cx="2595295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40665" y="2020824"/>
            <a:ext cx="530352" cy="530352"/>
          </a:xfrm>
          <a:prstGeom prst="ellipse">
            <a:avLst/>
          </a:prstGeom>
          <a:solidFill>
            <a:srgbClr val="E84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343" y="2137502"/>
            <a:ext cx="296997" cy="29699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9809" y="2615184"/>
            <a:ext cx="2229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0F2A44"/>
                </a:solidFill>
                <a:latin typeface="Segoe UI"/>
              </a:rPr>
              <a:t>Course Studio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9" y="3035808"/>
            <a:ext cx="222953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5B6472"/>
                </a:solidFill>
                <a:latin typeface="Segoe UI"/>
              </a:rPr>
              <a:t>Build courses with modules and lessons across offline, online, blended, and self-paced modes.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22828" y="1883664"/>
            <a:ext cx="2595295" cy="2331720"/>
          </a:xfrm>
          <a:prstGeom prst="rect">
            <a:avLst/>
          </a:prstGeom>
          <a:solidFill>
            <a:srgbClr val="DC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81680" y="1828800"/>
            <a:ext cx="2595295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73704" y="2020824"/>
            <a:ext cx="530352" cy="530352"/>
          </a:xfrm>
          <a:prstGeom prst="ellipse">
            <a:avLst/>
          </a:prstGeom>
          <a:solidFill>
            <a:srgbClr val="E84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do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0382" y="2137502"/>
            <a:ext cx="296997" cy="296997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582848" y="2615184"/>
            <a:ext cx="2229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0F2A44"/>
                </a:solidFill>
                <a:latin typeface="Segoe UI"/>
              </a:rPr>
              <a:t>Assignments &amp; Homework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82848" y="3035808"/>
            <a:ext cx="222953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5B6472"/>
                </a:solidFill>
                <a:latin typeface="Segoe UI"/>
              </a:rPr>
              <a:t>A shared workflow from draft to assignment to submission to review.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55867" y="1883664"/>
            <a:ext cx="2595295" cy="2331720"/>
          </a:xfrm>
          <a:prstGeom prst="rect">
            <a:avLst/>
          </a:prstGeom>
          <a:solidFill>
            <a:srgbClr val="DC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14719" y="1828800"/>
            <a:ext cx="2595295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06743" y="2020824"/>
            <a:ext cx="530352" cy="530352"/>
          </a:xfrm>
          <a:prstGeom prst="ellipse">
            <a:avLst/>
          </a:prstGeom>
          <a:solidFill>
            <a:srgbClr val="E84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do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3421" y="2137502"/>
            <a:ext cx="296997" cy="296997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415887" y="2615184"/>
            <a:ext cx="2229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0F2A44"/>
                </a:solidFill>
                <a:latin typeface="Segoe UI"/>
              </a:rPr>
              <a:t>Lesson Plans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5887" y="3035808"/>
            <a:ext cx="222953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5B6472"/>
                </a:solidFill>
                <a:latin typeface="Segoe UI"/>
              </a:rPr>
              <a:t>Teacher lesson planning with a built-in approval workflow.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88906" y="1883664"/>
            <a:ext cx="2595295" cy="2331720"/>
          </a:xfrm>
          <a:prstGeom prst="rect">
            <a:avLst/>
          </a:prstGeom>
          <a:solidFill>
            <a:srgbClr val="DC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047758" y="1828800"/>
            <a:ext cx="2595295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239782" y="2020824"/>
            <a:ext cx="530352" cy="530352"/>
          </a:xfrm>
          <a:prstGeom prst="ellipse">
            <a:avLst/>
          </a:prstGeom>
          <a:solidFill>
            <a:srgbClr val="E84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c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6460" y="2137502"/>
            <a:ext cx="296997" cy="296997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248926" y="2615184"/>
            <a:ext cx="2229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0F2A44"/>
                </a:solidFill>
                <a:latin typeface="Segoe UI"/>
              </a:rPr>
              <a:t>Quizzes &amp; Live Classes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48926" y="3035808"/>
            <a:ext cx="222953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5B6472"/>
                </a:solidFill>
                <a:latin typeface="Segoe UI"/>
              </a:rPr>
              <a:t>Inline formative quizzes plus integration hooks for live-class tools.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EduNexus  •  Advanced Platform Overview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384048" cy="54864"/>
          </a:xfrm>
          <a:prstGeom prst="rect">
            <a:avLst/>
          </a:prstGeom>
          <a:solidFill>
            <a:srgbClr val="E84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84B5B"/>
                </a:solidFill>
                <a:latin typeface="Segoe UI"/>
              </a:rPr>
              <a:t>TEACHING, LEARNING &amp;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F2A44"/>
                </a:solidFill>
                <a:latin typeface="Segoe UI"/>
              </a:rPr>
              <a:t>From Exam to Verified Report Card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961388"/>
            <a:ext cx="1544269" cy="960120"/>
          </a:xfrm>
          <a:prstGeom prst="rect">
            <a:avLst/>
          </a:prstGeom>
          <a:solidFill>
            <a:srgbClr val="DC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920240"/>
            <a:ext cx="1544269" cy="960120"/>
          </a:xfrm>
          <a:prstGeom prst="roundRect">
            <a:avLst>
              <a:gd name="adj" fmla="val 22000"/>
            </a:avLst>
          </a:prstGeom>
          <a:solidFill>
            <a:srgbClr val="E84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ed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2048256"/>
            <a:ext cx="329184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76656" y="2450592"/>
            <a:ext cx="128823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Segoe UI"/>
              </a:rPr>
              <a:t>Exam Created</a:t>
            </a:r>
          </a:p>
        </p:txBody>
      </p:sp>
      <p:sp>
        <p:nvSpPr>
          <p:cNvPr id="10" name="Chevron 9"/>
          <p:cNvSpPr/>
          <p:nvPr/>
        </p:nvSpPr>
        <p:spPr>
          <a:xfrm>
            <a:off x="2092909" y="2217420"/>
            <a:ext cx="365760" cy="365760"/>
          </a:xfrm>
          <a:prstGeom prst="chevron">
            <a:avLst/>
          </a:prstGeom>
          <a:solidFill>
            <a:srgbClr val="B7C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486101" y="1961388"/>
            <a:ext cx="1544269" cy="960120"/>
          </a:xfrm>
          <a:prstGeom prst="rect">
            <a:avLst/>
          </a:prstGeom>
          <a:solidFill>
            <a:srgbClr val="DC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458669" y="1920240"/>
            <a:ext cx="1544269" cy="960120"/>
          </a:xfrm>
          <a:prstGeom prst="roundRect">
            <a:avLst>
              <a:gd name="adj" fmla="val 22000"/>
            </a:avLst>
          </a:prstGeom>
          <a:solidFill>
            <a:srgbClr val="E84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do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4973" y="2048256"/>
            <a:ext cx="329184" cy="32918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586685" y="2450592"/>
            <a:ext cx="128823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Segoe UI"/>
              </a:rPr>
              <a:t>Marks Entry</a:t>
            </a:r>
          </a:p>
        </p:txBody>
      </p:sp>
      <p:sp>
        <p:nvSpPr>
          <p:cNvPr id="15" name="Chevron 14"/>
          <p:cNvSpPr/>
          <p:nvPr/>
        </p:nvSpPr>
        <p:spPr>
          <a:xfrm>
            <a:off x="4002938" y="2217420"/>
            <a:ext cx="365760" cy="365760"/>
          </a:xfrm>
          <a:prstGeom prst="chevron">
            <a:avLst/>
          </a:prstGeom>
          <a:solidFill>
            <a:srgbClr val="B7C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6130" y="1961388"/>
            <a:ext cx="1544269" cy="960120"/>
          </a:xfrm>
          <a:prstGeom prst="rect">
            <a:avLst/>
          </a:prstGeom>
          <a:solidFill>
            <a:srgbClr val="DC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68698" y="1920240"/>
            <a:ext cx="1544269" cy="960120"/>
          </a:xfrm>
          <a:prstGeom prst="roundRect">
            <a:avLst>
              <a:gd name="adj" fmla="val 22000"/>
            </a:avLst>
          </a:prstGeom>
          <a:solidFill>
            <a:srgbClr val="E84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5002" y="2048256"/>
            <a:ext cx="329184" cy="32918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496714" y="2450592"/>
            <a:ext cx="128823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Segoe UI"/>
              </a:rPr>
              <a:t>Approval</a:t>
            </a:r>
          </a:p>
        </p:txBody>
      </p:sp>
      <p:sp>
        <p:nvSpPr>
          <p:cNvPr id="20" name="Chevron 19"/>
          <p:cNvSpPr/>
          <p:nvPr/>
        </p:nvSpPr>
        <p:spPr>
          <a:xfrm>
            <a:off x="5912967" y="2217420"/>
            <a:ext cx="365760" cy="365760"/>
          </a:xfrm>
          <a:prstGeom prst="chevron">
            <a:avLst/>
          </a:prstGeom>
          <a:solidFill>
            <a:srgbClr val="B7C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6159" y="1961388"/>
            <a:ext cx="1544269" cy="960120"/>
          </a:xfrm>
          <a:prstGeom prst="rect">
            <a:avLst/>
          </a:prstGeom>
          <a:solidFill>
            <a:srgbClr val="DC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78727" y="1920240"/>
            <a:ext cx="1544269" cy="960120"/>
          </a:xfrm>
          <a:prstGeom prst="roundRect">
            <a:avLst>
              <a:gd name="adj" fmla="val 22000"/>
            </a:avLst>
          </a:prstGeom>
          <a:solidFill>
            <a:srgbClr val="E84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bel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5031" y="2048256"/>
            <a:ext cx="329184" cy="32918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406743" y="2450592"/>
            <a:ext cx="128823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Segoe UI"/>
              </a:rPr>
              <a:t>Results Published</a:t>
            </a:r>
          </a:p>
        </p:txBody>
      </p:sp>
      <p:sp>
        <p:nvSpPr>
          <p:cNvPr id="25" name="Chevron 24"/>
          <p:cNvSpPr/>
          <p:nvPr/>
        </p:nvSpPr>
        <p:spPr>
          <a:xfrm>
            <a:off x="7822996" y="2217420"/>
            <a:ext cx="365760" cy="365760"/>
          </a:xfrm>
          <a:prstGeom prst="chevron">
            <a:avLst/>
          </a:prstGeom>
          <a:solidFill>
            <a:srgbClr val="B7C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16188" y="1961388"/>
            <a:ext cx="1544269" cy="960120"/>
          </a:xfrm>
          <a:prstGeom prst="rect">
            <a:avLst/>
          </a:prstGeom>
          <a:solidFill>
            <a:srgbClr val="DC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188756" y="1920240"/>
            <a:ext cx="1544269" cy="960120"/>
          </a:xfrm>
          <a:prstGeom prst="roundRect">
            <a:avLst>
              <a:gd name="adj" fmla="val 22000"/>
            </a:avLst>
          </a:prstGeom>
          <a:solidFill>
            <a:srgbClr val="E84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do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5060" y="2048256"/>
            <a:ext cx="329184" cy="329184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316772" y="2450592"/>
            <a:ext cx="128823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Segoe UI"/>
              </a:rPr>
              <a:t>Report Card</a:t>
            </a:r>
          </a:p>
        </p:txBody>
      </p:sp>
      <p:sp>
        <p:nvSpPr>
          <p:cNvPr id="30" name="Chevron 29"/>
          <p:cNvSpPr/>
          <p:nvPr/>
        </p:nvSpPr>
        <p:spPr>
          <a:xfrm>
            <a:off x="9733025" y="2217420"/>
            <a:ext cx="365760" cy="365760"/>
          </a:xfrm>
          <a:prstGeom prst="chevron">
            <a:avLst/>
          </a:prstGeom>
          <a:solidFill>
            <a:srgbClr val="B7C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126217" y="1961388"/>
            <a:ext cx="1544269" cy="960120"/>
          </a:xfrm>
          <a:prstGeom prst="rect">
            <a:avLst/>
          </a:prstGeom>
          <a:solidFill>
            <a:srgbClr val="DC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0098785" y="1920240"/>
            <a:ext cx="1544269" cy="960120"/>
          </a:xfrm>
          <a:prstGeom prst="roundRect">
            <a:avLst>
              <a:gd name="adj" fmla="val 22000"/>
            </a:avLst>
          </a:prstGeom>
          <a:solidFill>
            <a:srgbClr val="E84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q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45089" y="2048256"/>
            <a:ext cx="329184" cy="329184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0226801" y="2450592"/>
            <a:ext cx="128823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Segoe UI"/>
              </a:rPr>
              <a:t>QR Verified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89788" y="3941064"/>
            <a:ext cx="3539642" cy="2331720"/>
          </a:xfrm>
          <a:prstGeom prst="rect">
            <a:avLst/>
          </a:prstGeom>
          <a:solidFill>
            <a:srgbClr val="DC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48640" y="3886200"/>
            <a:ext cx="3539642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40664" y="4078224"/>
            <a:ext cx="530352" cy="530352"/>
          </a:xfrm>
          <a:prstGeom prst="ellipse">
            <a:avLst/>
          </a:prstGeom>
          <a:solidFill>
            <a:srgbClr val="E84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med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342" y="4194902"/>
            <a:ext cx="296997" cy="296997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749808" y="4672584"/>
            <a:ext cx="317388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0F2A44"/>
                </a:solidFill>
                <a:latin typeface="Segoe UI"/>
              </a:rPr>
              <a:t>Examinations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808" y="5093208"/>
            <a:ext cx="317388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5B6472"/>
                </a:solidFill>
                <a:latin typeface="Segoe UI"/>
              </a:rPr>
              <a:t>Formal exam engine — exam creation, marks entry with approval, and result publishing.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367174" y="3941064"/>
            <a:ext cx="3539642" cy="2331720"/>
          </a:xfrm>
          <a:prstGeom prst="rect">
            <a:avLst/>
          </a:prstGeom>
          <a:solidFill>
            <a:srgbClr val="DC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4326026" y="3886200"/>
            <a:ext cx="3539642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518050" y="4078224"/>
            <a:ext cx="530352" cy="530352"/>
          </a:xfrm>
          <a:prstGeom prst="ellipse">
            <a:avLst/>
          </a:prstGeom>
          <a:solidFill>
            <a:srgbClr val="E84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do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4728" y="4194902"/>
            <a:ext cx="296997" cy="296997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4527194" y="4672584"/>
            <a:ext cx="317388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0F2A44"/>
                </a:solidFill>
                <a:latin typeface="Segoe UI"/>
              </a:rPr>
              <a:t>Documents &amp; Report Cards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27194" y="5093208"/>
            <a:ext cx="317388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5B6472"/>
                </a:solidFill>
                <a:latin typeface="Segoe UI"/>
              </a:rPr>
              <a:t>Drag-and-drop template designer generating report cards and certificates.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144560" y="3941064"/>
            <a:ext cx="3539642" cy="2331720"/>
          </a:xfrm>
          <a:prstGeom prst="rect">
            <a:avLst/>
          </a:prstGeom>
          <a:solidFill>
            <a:srgbClr val="DC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8103412" y="3886200"/>
            <a:ext cx="3539642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8295436" y="4078224"/>
            <a:ext cx="530352" cy="530352"/>
          </a:xfrm>
          <a:prstGeom prst="ellipse">
            <a:avLst/>
          </a:prstGeom>
          <a:solidFill>
            <a:srgbClr val="E84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librar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2114" y="4194902"/>
            <a:ext cx="296997" cy="296997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8304580" y="4672584"/>
            <a:ext cx="317388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0F2A44"/>
                </a:solidFill>
                <a:latin typeface="Segoe UI"/>
              </a:rPr>
              <a:t>Library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04580" y="5093208"/>
            <a:ext cx="317388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5B6472"/>
                </a:solidFill>
                <a:latin typeface="Segoe UI"/>
              </a:rPr>
              <a:t>Book catalog with issue/return tracking linked to student accounts.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EduNexus  •  Advanced Platform Overview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81829"/>
              </a:gs>
              <a:gs pos="100000">
                <a:srgbClr val="0F2A44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14255" y="-2011680"/>
            <a:ext cx="5669280" cy="5669280"/>
          </a:xfrm>
          <a:prstGeom prst="ellipse">
            <a:avLst/>
          </a:prstGeom>
          <a:solidFill>
            <a:srgbClr val="1FA95C"/>
            <a:alpha val="1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828800" y="4663440"/>
            <a:ext cx="4023360" cy="4023360"/>
          </a:xfrm>
          <a:prstGeom prst="ellipse">
            <a:avLst/>
          </a:prstGeom>
          <a:solidFill>
            <a:srgbClr val="FFB020"/>
            <a:alpha val="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A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1520" y="1188719"/>
            <a:ext cx="1371600" cy="1371600"/>
          </a:xfrm>
          <a:prstGeom prst="ellipse">
            <a:avLst/>
          </a:prstGeom>
          <a:solidFill>
            <a:srgbClr val="1FA95C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wall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" y="1531619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2788920"/>
            <a:ext cx="2011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2A4C74"/>
                </a:solidFill>
                <a:latin typeface="Segoe UI"/>
              </a:rPr>
              <a:t>05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3657600"/>
            <a:ext cx="640080" cy="54864"/>
          </a:xfrm>
          <a:prstGeom prst="rect">
            <a:avLst/>
          </a:prstGeom>
          <a:solidFill>
            <a:srgbClr val="1FA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3840480"/>
            <a:ext cx="9875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FFFFFF"/>
                </a:solidFill>
                <a:latin typeface="Segoe UI"/>
              </a:rPr>
              <a:t>Finance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553712"/>
            <a:ext cx="8961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B9C6D9"/>
                </a:solidFill>
                <a:latin typeface="Segoe UI"/>
              </a:rPr>
              <a:t>Fee collection and billing, end to 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B9C6D9"/>
                </a:solidFill>
                <a:latin typeface="Segoe UI"/>
              </a:rPr>
              <a:t>EduNexus  •  Advanced Platform Overview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B9C6D9"/>
                </a:solidFill>
                <a:latin typeface="Segoe U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384048" cy="54864"/>
          </a:xfrm>
          <a:prstGeom prst="rect">
            <a:avLst/>
          </a:prstGeom>
          <a:solidFill>
            <a:srgbClr val="1FA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A95C"/>
                </a:solidFill>
                <a:latin typeface="Segoe UI"/>
              </a:rPr>
              <a:t>FINANCE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F2A44"/>
                </a:solidFill>
                <a:latin typeface="Segoe UI"/>
              </a:rPr>
              <a:t>The Fee Lifecycle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961388"/>
            <a:ext cx="1926275" cy="960120"/>
          </a:xfrm>
          <a:prstGeom prst="rect">
            <a:avLst/>
          </a:prstGeom>
          <a:solidFill>
            <a:srgbClr val="DC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920240"/>
            <a:ext cx="1926275" cy="960120"/>
          </a:xfrm>
          <a:prstGeom prst="roundRect">
            <a:avLst>
              <a:gd name="adj" fmla="val 22000"/>
            </a:avLst>
          </a:prstGeom>
          <a:solidFill>
            <a:srgbClr val="1FA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2048256"/>
            <a:ext cx="329184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76656" y="2450592"/>
            <a:ext cx="1670243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Segoe UI"/>
              </a:rPr>
              <a:t>Assign Fees</a:t>
            </a:r>
          </a:p>
        </p:txBody>
      </p:sp>
      <p:sp>
        <p:nvSpPr>
          <p:cNvPr id="10" name="Chevron 9"/>
          <p:cNvSpPr/>
          <p:nvPr/>
        </p:nvSpPr>
        <p:spPr>
          <a:xfrm>
            <a:off x="2474915" y="2217420"/>
            <a:ext cx="365760" cy="365760"/>
          </a:xfrm>
          <a:prstGeom prst="chevron">
            <a:avLst/>
          </a:prstGeom>
          <a:solidFill>
            <a:srgbClr val="B7C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868107" y="1961388"/>
            <a:ext cx="1926275" cy="960120"/>
          </a:xfrm>
          <a:prstGeom prst="rect">
            <a:avLst/>
          </a:prstGeom>
          <a:solidFill>
            <a:srgbClr val="DC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840675" y="1920240"/>
            <a:ext cx="1926275" cy="960120"/>
          </a:xfrm>
          <a:prstGeom prst="roundRect">
            <a:avLst>
              <a:gd name="adj" fmla="val 22000"/>
            </a:avLst>
          </a:prstGeom>
          <a:solidFill>
            <a:srgbClr val="1FA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be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6979" y="2048256"/>
            <a:ext cx="329184" cy="32918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968691" y="2450592"/>
            <a:ext cx="1670243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Segoe UI"/>
              </a:rPr>
              <a:t>Invoice Generated</a:t>
            </a:r>
          </a:p>
        </p:txBody>
      </p:sp>
      <p:sp>
        <p:nvSpPr>
          <p:cNvPr id="15" name="Chevron 14"/>
          <p:cNvSpPr/>
          <p:nvPr/>
        </p:nvSpPr>
        <p:spPr>
          <a:xfrm>
            <a:off x="4766950" y="2217420"/>
            <a:ext cx="365760" cy="365760"/>
          </a:xfrm>
          <a:prstGeom prst="chevron">
            <a:avLst/>
          </a:prstGeom>
          <a:solidFill>
            <a:srgbClr val="B7C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160142" y="1961388"/>
            <a:ext cx="1926275" cy="960120"/>
          </a:xfrm>
          <a:prstGeom prst="rect">
            <a:avLst/>
          </a:prstGeom>
          <a:solidFill>
            <a:srgbClr val="DC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132710" y="1920240"/>
            <a:ext cx="1926275" cy="960120"/>
          </a:xfrm>
          <a:prstGeom prst="roundRect">
            <a:avLst>
              <a:gd name="adj" fmla="val 22000"/>
            </a:avLst>
          </a:prstGeom>
          <a:solidFill>
            <a:srgbClr val="1FA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wall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9014" y="2048256"/>
            <a:ext cx="329184" cy="32918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260726" y="2450592"/>
            <a:ext cx="1670243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Segoe UI"/>
              </a:rPr>
              <a:t>Collect Payment</a:t>
            </a:r>
          </a:p>
        </p:txBody>
      </p:sp>
      <p:sp>
        <p:nvSpPr>
          <p:cNvPr id="20" name="Chevron 19"/>
          <p:cNvSpPr/>
          <p:nvPr/>
        </p:nvSpPr>
        <p:spPr>
          <a:xfrm>
            <a:off x="7058985" y="2217420"/>
            <a:ext cx="365760" cy="365760"/>
          </a:xfrm>
          <a:prstGeom prst="chevron">
            <a:avLst/>
          </a:prstGeom>
          <a:solidFill>
            <a:srgbClr val="B7C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52177" y="1961388"/>
            <a:ext cx="1926275" cy="960120"/>
          </a:xfrm>
          <a:prstGeom prst="rect">
            <a:avLst/>
          </a:prstGeom>
          <a:solidFill>
            <a:srgbClr val="DC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424745" y="1920240"/>
            <a:ext cx="1926275" cy="960120"/>
          </a:xfrm>
          <a:prstGeom prst="roundRect">
            <a:avLst>
              <a:gd name="adj" fmla="val 22000"/>
            </a:avLst>
          </a:prstGeom>
          <a:solidFill>
            <a:srgbClr val="1FA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1049" y="2048256"/>
            <a:ext cx="329184" cy="32918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552761" y="2450592"/>
            <a:ext cx="1670243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Segoe UI"/>
              </a:rPr>
              <a:t>Receipt Issued</a:t>
            </a:r>
          </a:p>
        </p:txBody>
      </p:sp>
      <p:sp>
        <p:nvSpPr>
          <p:cNvPr id="25" name="Chevron 24"/>
          <p:cNvSpPr/>
          <p:nvPr/>
        </p:nvSpPr>
        <p:spPr>
          <a:xfrm>
            <a:off x="9351020" y="2217420"/>
            <a:ext cx="365760" cy="365760"/>
          </a:xfrm>
          <a:prstGeom prst="chevron">
            <a:avLst/>
          </a:prstGeom>
          <a:solidFill>
            <a:srgbClr val="B7C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744212" y="1961388"/>
            <a:ext cx="1926275" cy="960120"/>
          </a:xfrm>
          <a:prstGeom prst="rect">
            <a:avLst/>
          </a:prstGeom>
          <a:solidFill>
            <a:srgbClr val="DC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716780" y="1920240"/>
            <a:ext cx="1926275" cy="960120"/>
          </a:xfrm>
          <a:prstGeom prst="roundRect">
            <a:avLst>
              <a:gd name="adj" fmla="val 22000"/>
            </a:avLst>
          </a:prstGeom>
          <a:solidFill>
            <a:srgbClr val="1FA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funne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63084" y="2048256"/>
            <a:ext cx="329184" cy="329184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844796" y="2450592"/>
            <a:ext cx="1670243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Segoe UI"/>
              </a:rPr>
              <a:t>Defaulter Tracking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9789" y="3941064"/>
            <a:ext cx="2595295" cy="2331720"/>
          </a:xfrm>
          <a:prstGeom prst="rect">
            <a:avLst/>
          </a:prstGeom>
          <a:solidFill>
            <a:srgbClr val="DC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48641" y="3886200"/>
            <a:ext cx="2595295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40665" y="4078224"/>
            <a:ext cx="530352" cy="530352"/>
          </a:xfrm>
          <a:prstGeom prst="ellipse">
            <a:avLst/>
          </a:prstGeom>
          <a:solidFill>
            <a:srgbClr val="1FA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343" y="4194902"/>
            <a:ext cx="296997" cy="296997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749809" y="4672584"/>
            <a:ext cx="2229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0F2A44"/>
                </a:solidFill>
                <a:latin typeface="Segoe UI"/>
              </a:rPr>
              <a:t>Live Dashboard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9" y="5093208"/>
            <a:ext cx="222953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5B6472"/>
                </a:solidFill>
                <a:latin typeface="Segoe UI"/>
              </a:rPr>
              <a:t>Fees collected, outstanding, overdue, and pending invoices at a glance.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422828" y="3941064"/>
            <a:ext cx="2595295" cy="2331720"/>
          </a:xfrm>
          <a:prstGeom prst="rect">
            <a:avLst/>
          </a:prstGeom>
          <a:solidFill>
            <a:srgbClr val="DC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3381680" y="3886200"/>
            <a:ext cx="2595295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3573704" y="4078224"/>
            <a:ext cx="530352" cy="530352"/>
          </a:xfrm>
          <a:prstGeom prst="ellipse">
            <a:avLst/>
          </a:prstGeom>
          <a:solidFill>
            <a:srgbClr val="1FA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wall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0382" y="4194902"/>
            <a:ext cx="296997" cy="29699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3582848" y="4672584"/>
            <a:ext cx="2229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0F2A44"/>
                </a:solidFill>
                <a:latin typeface="Segoe UI"/>
              </a:rPr>
              <a:t>Collect Payment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82848" y="5093208"/>
            <a:ext cx="222953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5B6472"/>
                </a:solidFill>
                <a:latin typeface="Segoe UI"/>
              </a:rPr>
              <a:t>Cash, UPI, card, and online gateway payments with instant receipt issuance.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55867" y="3941064"/>
            <a:ext cx="2595295" cy="2331720"/>
          </a:xfrm>
          <a:prstGeom prst="rect">
            <a:avLst/>
          </a:prstGeom>
          <a:solidFill>
            <a:srgbClr val="DC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214719" y="3886200"/>
            <a:ext cx="2595295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406743" y="4078224"/>
            <a:ext cx="530352" cy="530352"/>
          </a:xfrm>
          <a:prstGeom prst="ellipse">
            <a:avLst/>
          </a:prstGeom>
          <a:solidFill>
            <a:srgbClr val="1FA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d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3421" y="4194902"/>
            <a:ext cx="296997" cy="296997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6415887" y="4672584"/>
            <a:ext cx="2229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0F2A44"/>
                </a:solidFill>
                <a:latin typeface="Segoe UI"/>
              </a:rPr>
              <a:t>Assign Fees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15887" y="5093208"/>
            <a:ext cx="222953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5B6472"/>
                </a:solidFill>
                <a:latin typeface="Segoe UI"/>
              </a:rPr>
              <a:t>Fee-head assignment by academic year with automatic invoicing.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088906" y="3941064"/>
            <a:ext cx="2595295" cy="2331720"/>
          </a:xfrm>
          <a:prstGeom prst="rect">
            <a:avLst/>
          </a:prstGeom>
          <a:solidFill>
            <a:srgbClr val="DC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9047758" y="3886200"/>
            <a:ext cx="2595295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9239782" y="4078224"/>
            <a:ext cx="530352" cy="530352"/>
          </a:xfrm>
          <a:prstGeom prst="ellipse">
            <a:avLst/>
          </a:prstGeom>
          <a:solidFill>
            <a:srgbClr val="1FA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be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6460" y="4194902"/>
            <a:ext cx="296997" cy="296997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9248926" y="4672584"/>
            <a:ext cx="2229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0F2A44"/>
                </a:solidFill>
                <a:latin typeface="Segoe UI"/>
              </a:rPr>
              <a:t>Defaulters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48926" y="5093208"/>
            <a:ext cx="222953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5B6472"/>
                </a:solidFill>
                <a:latin typeface="Segoe UI"/>
              </a:rPr>
              <a:t>Reporting on overdue balances for timely follow-up.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EduNexus  •  Advanced Platform Overview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81829"/>
              </a:gs>
              <a:gs pos="100000">
                <a:srgbClr val="0F2A44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14255" y="-2011680"/>
            <a:ext cx="5669280" cy="5669280"/>
          </a:xfrm>
          <a:prstGeom prst="ellipse">
            <a:avLst/>
          </a:prstGeom>
          <a:solidFill>
            <a:srgbClr val="E04793"/>
            <a:alpha val="1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828800" y="4663440"/>
            <a:ext cx="4023360" cy="4023360"/>
          </a:xfrm>
          <a:prstGeom prst="ellipse">
            <a:avLst/>
          </a:prstGeom>
          <a:solidFill>
            <a:srgbClr val="FFB020"/>
            <a:alpha val="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047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1520" y="1188719"/>
            <a:ext cx="1371600" cy="1371600"/>
          </a:xfrm>
          <a:prstGeom prst="ellipse">
            <a:avLst/>
          </a:prstGeom>
          <a:solidFill>
            <a:srgbClr val="E04793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h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" y="1531619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2788920"/>
            <a:ext cx="2011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2A4C74"/>
                </a:solidFill>
                <a:latin typeface="Segoe UI"/>
              </a:rPr>
              <a:t>06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3657600"/>
            <a:ext cx="640080" cy="54864"/>
          </a:xfrm>
          <a:prstGeom prst="rect">
            <a:avLst/>
          </a:prstGeom>
          <a:solidFill>
            <a:srgbClr val="E047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3840480"/>
            <a:ext cx="9875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FFFFFF"/>
                </a:solidFill>
                <a:latin typeface="Segoe UI"/>
              </a:rPr>
              <a:t>Communication &amp; Engagement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553712"/>
            <a:ext cx="8961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B9C6D9"/>
                </a:solidFill>
                <a:latin typeface="Segoe UI"/>
              </a:rPr>
              <a:t>Reaching students, staff and parents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B9C6D9"/>
                </a:solidFill>
                <a:latin typeface="Segoe UI"/>
              </a:rPr>
              <a:t>EduNexus  •  Advanced Platform Overview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B9C6D9"/>
                </a:solidFill>
                <a:latin typeface="Segoe U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384048" cy="54864"/>
          </a:xfrm>
          <a:prstGeom prst="rect">
            <a:avLst/>
          </a:prstGeom>
          <a:solidFill>
            <a:srgbClr val="E047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04793"/>
                </a:solidFill>
                <a:latin typeface="Segoe UI"/>
              </a:rPr>
              <a:t>COMMUNICATION &amp; ENGAGEMENT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F2A44"/>
                </a:solidFill>
                <a:latin typeface="Segoe UI"/>
              </a:rPr>
              <a:t>Reaching Students, Staff &amp; Parents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89788" y="1837944"/>
            <a:ext cx="3539642" cy="2331720"/>
          </a:xfrm>
          <a:prstGeom prst="rect">
            <a:avLst/>
          </a:prstGeom>
          <a:solidFill>
            <a:srgbClr val="DC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3539642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40664" y="1975104"/>
            <a:ext cx="530352" cy="530352"/>
          </a:xfrm>
          <a:prstGeom prst="ellipse">
            <a:avLst/>
          </a:prstGeom>
          <a:solidFill>
            <a:srgbClr val="E047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h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342" y="2091782"/>
            <a:ext cx="296997" cy="29699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9808" y="2569464"/>
            <a:ext cx="317388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0F2A44"/>
                </a:solidFill>
                <a:latin typeface="Segoe UI"/>
              </a:rPr>
              <a:t>Communications Hub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990088"/>
            <a:ext cx="317388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5B6472"/>
                </a:solidFill>
                <a:latin typeface="Segoe UI"/>
              </a:rPr>
              <a:t>Announcements, circulars &amp; targeted notifications across Email, SMS, WhatsApp &amp; push.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67174" y="1837944"/>
            <a:ext cx="3539642" cy="2331720"/>
          </a:xfrm>
          <a:prstGeom prst="rect">
            <a:avLst/>
          </a:prstGeom>
          <a:solidFill>
            <a:srgbClr val="DC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26026" y="1783080"/>
            <a:ext cx="3539642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18050" y="1975104"/>
            <a:ext cx="530352" cy="530352"/>
          </a:xfrm>
          <a:prstGeom prst="ellipse">
            <a:avLst/>
          </a:prstGeom>
          <a:solidFill>
            <a:srgbClr val="E047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do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4728" y="2091782"/>
            <a:ext cx="296997" cy="296997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527194" y="2569464"/>
            <a:ext cx="317388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0F2A44"/>
                </a:solidFill>
                <a:latin typeface="Segoe UI"/>
              </a:rPr>
              <a:t>Reusable Templates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7194" y="2990088"/>
            <a:ext cx="317388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5B6472"/>
                </a:solidFill>
                <a:latin typeface="Segoe UI"/>
              </a:rPr>
              <a:t>Standardized, on-brand messaging composed and scheduled from one place.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44560" y="1837944"/>
            <a:ext cx="3539642" cy="2331720"/>
          </a:xfrm>
          <a:prstGeom prst="rect">
            <a:avLst/>
          </a:prstGeom>
          <a:solidFill>
            <a:srgbClr val="DC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103412" y="1783080"/>
            <a:ext cx="3539642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95436" y="1975104"/>
            <a:ext cx="530352" cy="530352"/>
          </a:xfrm>
          <a:prstGeom prst="ellipse">
            <a:avLst/>
          </a:prstGeom>
          <a:solidFill>
            <a:srgbClr val="E047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mai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114" y="2091782"/>
            <a:ext cx="296997" cy="296997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304580" y="2569464"/>
            <a:ext cx="317388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0F2A44"/>
                </a:solidFill>
                <a:latin typeface="Segoe UI"/>
              </a:rPr>
              <a:t>EduNexus Post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4580" y="2990088"/>
            <a:ext cx="317388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5B6472"/>
                </a:solidFill>
                <a:latin typeface="Segoe UI"/>
              </a:rPr>
              <a:t>A built-in, Gmail-style webmail client for sending institutional email.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EduNexus  •  Advanced Platform Overview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81829"/>
              </a:gs>
              <a:gs pos="100000">
                <a:srgbClr val="0F2A44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14255" y="-2011680"/>
            <a:ext cx="5669280" cy="5669280"/>
          </a:xfrm>
          <a:prstGeom prst="ellipse">
            <a:avLst/>
          </a:prstGeom>
          <a:solidFill>
            <a:srgbClr val="5357E8"/>
            <a:alpha val="1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828800" y="4663440"/>
            <a:ext cx="4023360" cy="4023360"/>
          </a:xfrm>
          <a:prstGeom prst="ellipse">
            <a:avLst/>
          </a:prstGeom>
          <a:solidFill>
            <a:srgbClr val="FFB020"/>
            <a:alpha val="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35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1520" y="1188719"/>
            <a:ext cx="1371600" cy="1371600"/>
          </a:xfrm>
          <a:prstGeom prst="ellipse">
            <a:avLst/>
          </a:prstGeom>
          <a:solidFill>
            <a:srgbClr val="5357E8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park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" y="1531619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2788920"/>
            <a:ext cx="2011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2A4C74"/>
                </a:solidFill>
                <a:latin typeface="Segoe UI"/>
              </a:rPr>
              <a:t>07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3657600"/>
            <a:ext cx="640080" cy="54864"/>
          </a:xfrm>
          <a:prstGeom prst="rect">
            <a:avLst/>
          </a:prstGeom>
          <a:solidFill>
            <a:srgbClr val="535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3840480"/>
            <a:ext cx="9875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FFFFFF"/>
                </a:solidFill>
                <a:latin typeface="Segoe UI"/>
              </a:rPr>
              <a:t>AI &amp; Automation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553712"/>
            <a:ext cx="8961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B9C6D9"/>
                </a:solidFill>
                <a:latin typeface="Segoe UI"/>
              </a:rPr>
              <a:t>The Nexus AI Assistant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B9C6D9"/>
                </a:solidFill>
                <a:latin typeface="Segoe UI"/>
              </a:rPr>
              <a:t>EduNexus  •  Advanced Platform Overview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B9C6D9"/>
                </a:solidFill>
                <a:latin typeface="Segoe U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384048" cy="54864"/>
          </a:xfrm>
          <a:prstGeom prst="rect">
            <a:avLst/>
          </a:prstGeom>
          <a:solidFill>
            <a:srgbClr val="535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5357E8"/>
                </a:solidFill>
                <a:latin typeface="Segoe UI"/>
              </a:rPr>
              <a:t>AI &amp;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F2A44"/>
                </a:solidFill>
                <a:latin typeface="Segoe UI"/>
              </a:rPr>
              <a:t>The Nexus AI Assistant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89788" y="1837944"/>
            <a:ext cx="5428335" cy="2331720"/>
          </a:xfrm>
          <a:prstGeom prst="rect">
            <a:avLst/>
          </a:prstGeom>
          <a:solidFill>
            <a:srgbClr val="DC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5428335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40664" y="1975104"/>
            <a:ext cx="530352" cy="530352"/>
          </a:xfrm>
          <a:prstGeom prst="ellipse">
            <a:avLst/>
          </a:prstGeom>
          <a:solidFill>
            <a:srgbClr val="535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park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342" y="2091782"/>
            <a:ext cx="296997" cy="29699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9808" y="2569464"/>
            <a:ext cx="506257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0F2A44"/>
                </a:solidFill>
                <a:latin typeface="Segoe UI"/>
              </a:rPr>
              <a:t>AI Assistant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990088"/>
            <a:ext cx="506257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5B6472"/>
                </a:solidFill>
                <a:latin typeface="Segoe UI"/>
              </a:rPr>
              <a:t>A chat-based helper answering questions about the org, school, roles, and LMS usage.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55867" y="1837944"/>
            <a:ext cx="5428335" cy="2331720"/>
          </a:xfrm>
          <a:prstGeom prst="rect">
            <a:avLst/>
          </a:prstGeom>
          <a:solidFill>
            <a:srgbClr val="DC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4719" y="1783080"/>
            <a:ext cx="5428335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6743" y="1975104"/>
            <a:ext cx="530352" cy="530352"/>
          </a:xfrm>
          <a:prstGeom prst="ellipse">
            <a:avLst/>
          </a:prstGeom>
          <a:solidFill>
            <a:srgbClr val="535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ge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3421" y="2091782"/>
            <a:ext cx="296997" cy="296997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15887" y="2569464"/>
            <a:ext cx="506257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0F2A44"/>
                </a:solidFill>
                <a:latin typeface="Segoe UI"/>
              </a:rPr>
              <a:t>Automations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5887" y="2990088"/>
            <a:ext cx="506257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5B6472"/>
                </a:solidFill>
                <a:latin typeface="Segoe UI"/>
              </a:rPr>
              <a:t>Configurable workflows for onboarding, reminders &amp; tips — with run history.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5B6472"/>
                </a:solidFill>
                <a:latin typeface="Segoe UI"/>
              </a:rPr>
              <a:t>Built to save staff time on repetitive guidance and follow-up tasks.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EduNexus  •  Advanced Platform Overview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81829"/>
              </a:gs>
              <a:gs pos="100000">
                <a:srgbClr val="0F2A44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14255" y="-2011680"/>
            <a:ext cx="5669280" cy="5669280"/>
          </a:xfrm>
          <a:prstGeom prst="ellipse">
            <a:avLst/>
          </a:prstGeom>
          <a:solidFill>
            <a:srgbClr val="54647D"/>
            <a:alpha val="1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828800" y="4663440"/>
            <a:ext cx="4023360" cy="4023360"/>
          </a:xfrm>
          <a:prstGeom prst="ellipse">
            <a:avLst/>
          </a:prstGeom>
          <a:solidFill>
            <a:srgbClr val="FFB020"/>
            <a:alpha val="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46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1520" y="1188719"/>
            <a:ext cx="1371600" cy="1371600"/>
          </a:xfrm>
          <a:prstGeom prst="ellipse">
            <a:avLst/>
          </a:prstGeom>
          <a:solidFill>
            <a:srgbClr val="54647D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h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" y="1531619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2788920"/>
            <a:ext cx="2011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2A4C74"/>
                </a:solidFill>
                <a:latin typeface="Segoe UI"/>
              </a:rPr>
              <a:t>08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3657600"/>
            <a:ext cx="640080" cy="54864"/>
          </a:xfrm>
          <a:prstGeom prst="rect">
            <a:avLst/>
          </a:prstGeom>
          <a:solidFill>
            <a:srgbClr val="546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3840480"/>
            <a:ext cx="9875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FFFFFF"/>
                </a:solidFill>
                <a:latin typeface="Segoe UI"/>
              </a:rPr>
              <a:t>Platform Administration &amp; Security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553712"/>
            <a:ext cx="8961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B9C6D9"/>
                </a:solidFill>
                <a:latin typeface="Segoe UI"/>
              </a:rPr>
              <a:t>Governing the whole platform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B9C6D9"/>
                </a:solidFill>
                <a:latin typeface="Segoe UI"/>
              </a:rPr>
              <a:t>EduNexus  •  Advanced Platform Overview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B9C6D9"/>
                </a:solidFill>
                <a:latin typeface="Segoe U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384048" cy="54864"/>
          </a:xfrm>
          <a:prstGeom prst="rect">
            <a:avLst/>
          </a:prstGeom>
          <a:solidFill>
            <a:srgbClr val="546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54647D"/>
                </a:solidFill>
                <a:latin typeface="Segoe UI"/>
              </a:rPr>
              <a:t>ADMINISTRATION &amp;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F2A44"/>
                </a:solidFill>
                <a:latin typeface="Segoe UI"/>
              </a:rPr>
              <a:t>Tenant &amp; Access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869948"/>
            <a:ext cx="2499283" cy="960120"/>
          </a:xfrm>
          <a:prstGeom prst="rect">
            <a:avLst/>
          </a:prstGeom>
          <a:solidFill>
            <a:srgbClr val="DC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2499283" cy="960120"/>
          </a:xfrm>
          <a:prstGeom prst="roundRect">
            <a:avLst>
              <a:gd name="adj" fmla="val 22000"/>
            </a:avLst>
          </a:prstGeom>
          <a:solidFill>
            <a:srgbClr val="546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h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956816"/>
            <a:ext cx="329184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76656" y="2359152"/>
            <a:ext cx="224325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Segoe UI"/>
              </a:rPr>
              <a:t>Roles Defined</a:t>
            </a:r>
          </a:p>
        </p:txBody>
      </p:sp>
      <p:sp>
        <p:nvSpPr>
          <p:cNvPr id="10" name="Chevron 9"/>
          <p:cNvSpPr/>
          <p:nvPr/>
        </p:nvSpPr>
        <p:spPr>
          <a:xfrm>
            <a:off x="3047923" y="2125980"/>
            <a:ext cx="365760" cy="365760"/>
          </a:xfrm>
          <a:prstGeom prst="chevron">
            <a:avLst/>
          </a:prstGeom>
          <a:solidFill>
            <a:srgbClr val="B7C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41115" y="1869948"/>
            <a:ext cx="2499283" cy="960120"/>
          </a:xfrm>
          <a:prstGeom prst="rect">
            <a:avLst/>
          </a:prstGeom>
          <a:solidFill>
            <a:srgbClr val="DC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13683" y="1828800"/>
            <a:ext cx="2499283" cy="960120"/>
          </a:xfrm>
          <a:prstGeom prst="roundRect">
            <a:avLst>
              <a:gd name="adj" fmla="val 22000"/>
            </a:avLst>
          </a:prstGeom>
          <a:solidFill>
            <a:srgbClr val="546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9987" y="1956816"/>
            <a:ext cx="329184" cy="32918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541699" y="2359152"/>
            <a:ext cx="224325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Segoe UI"/>
              </a:rPr>
              <a:t>Permissions Assigned</a:t>
            </a:r>
          </a:p>
        </p:txBody>
      </p:sp>
      <p:sp>
        <p:nvSpPr>
          <p:cNvPr id="15" name="Chevron 14"/>
          <p:cNvSpPr/>
          <p:nvPr/>
        </p:nvSpPr>
        <p:spPr>
          <a:xfrm>
            <a:off x="5912966" y="2125980"/>
            <a:ext cx="365760" cy="365760"/>
          </a:xfrm>
          <a:prstGeom prst="chevron">
            <a:avLst/>
          </a:prstGeom>
          <a:solidFill>
            <a:srgbClr val="B7C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6158" y="1869948"/>
            <a:ext cx="2499283" cy="960120"/>
          </a:xfrm>
          <a:prstGeom prst="rect">
            <a:avLst/>
          </a:prstGeom>
          <a:solidFill>
            <a:srgbClr val="DC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78726" y="1828800"/>
            <a:ext cx="2499283" cy="960120"/>
          </a:xfrm>
          <a:prstGeom prst="roundRect">
            <a:avLst>
              <a:gd name="adj" fmla="val 22000"/>
            </a:avLst>
          </a:prstGeom>
          <a:solidFill>
            <a:srgbClr val="546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peo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5030" y="1956816"/>
            <a:ext cx="329184" cy="32918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406742" y="2359152"/>
            <a:ext cx="224325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Segoe UI"/>
              </a:rPr>
              <a:t>Users Mapped</a:t>
            </a:r>
          </a:p>
        </p:txBody>
      </p:sp>
      <p:sp>
        <p:nvSpPr>
          <p:cNvPr id="20" name="Chevron 19"/>
          <p:cNvSpPr/>
          <p:nvPr/>
        </p:nvSpPr>
        <p:spPr>
          <a:xfrm>
            <a:off x="8778009" y="2125980"/>
            <a:ext cx="365760" cy="365760"/>
          </a:xfrm>
          <a:prstGeom prst="chevron">
            <a:avLst/>
          </a:prstGeom>
          <a:solidFill>
            <a:srgbClr val="B7C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71201" y="1869948"/>
            <a:ext cx="2499283" cy="960120"/>
          </a:xfrm>
          <a:prstGeom prst="rect">
            <a:avLst/>
          </a:prstGeom>
          <a:solidFill>
            <a:srgbClr val="DC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43769" y="1828800"/>
            <a:ext cx="2499283" cy="960120"/>
          </a:xfrm>
          <a:prstGeom prst="roundRect">
            <a:avLst>
              <a:gd name="adj" fmla="val 22000"/>
            </a:avLst>
          </a:prstGeom>
          <a:solidFill>
            <a:srgbClr val="546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lay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90073" y="1956816"/>
            <a:ext cx="329184" cy="32918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271785" y="2359152"/>
            <a:ext cx="224325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Segoe UI"/>
              </a:rPr>
              <a:t>Menus Rendered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9789" y="3803903"/>
            <a:ext cx="2595295" cy="2331720"/>
          </a:xfrm>
          <a:prstGeom prst="rect">
            <a:avLst/>
          </a:prstGeom>
          <a:solidFill>
            <a:srgbClr val="DC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48641" y="3749039"/>
            <a:ext cx="2595295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40665" y="3941063"/>
            <a:ext cx="530352" cy="530352"/>
          </a:xfrm>
          <a:prstGeom prst="ellipse">
            <a:avLst/>
          </a:prstGeom>
          <a:solidFill>
            <a:srgbClr val="546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buildin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343" y="4057741"/>
            <a:ext cx="296997" cy="296997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49809" y="4535423"/>
            <a:ext cx="2229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0F2A44"/>
                </a:solidFill>
                <a:latin typeface="Segoe UI"/>
              </a:rPr>
              <a:t>Organizations &amp; Schools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9" y="4956047"/>
            <a:ext cx="222953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5B6472"/>
                </a:solidFill>
                <a:latin typeface="Segoe UI"/>
              </a:rPr>
              <a:t>Manage the full tenant hierarchy, from groups to school profiles.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22828" y="3803903"/>
            <a:ext cx="2595295" cy="2331720"/>
          </a:xfrm>
          <a:prstGeom prst="rect">
            <a:avLst/>
          </a:prstGeom>
          <a:solidFill>
            <a:srgbClr val="DC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381680" y="3749039"/>
            <a:ext cx="2595295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573704" y="3941063"/>
            <a:ext cx="530352" cy="530352"/>
          </a:xfrm>
          <a:prstGeom prst="ellipse">
            <a:avLst/>
          </a:prstGeom>
          <a:solidFill>
            <a:srgbClr val="546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peo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0382" y="4057741"/>
            <a:ext cx="296997" cy="296997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3582848" y="4535423"/>
            <a:ext cx="2229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0F2A44"/>
                </a:solidFill>
                <a:latin typeface="Segoe UI"/>
              </a:rPr>
              <a:t>Users &amp; Memberships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82848" y="4956047"/>
            <a:ext cx="222953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5B6472"/>
                </a:solidFill>
                <a:latin typeface="Segoe UI"/>
              </a:rPr>
              <a:t>Manage accounts and organizational memberships.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55867" y="3803903"/>
            <a:ext cx="2595295" cy="2331720"/>
          </a:xfrm>
          <a:prstGeom prst="rect">
            <a:avLst/>
          </a:prstGeom>
          <a:solidFill>
            <a:srgbClr val="DC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214719" y="3749039"/>
            <a:ext cx="2595295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406743" y="3941063"/>
            <a:ext cx="530352" cy="530352"/>
          </a:xfrm>
          <a:prstGeom prst="ellipse">
            <a:avLst/>
          </a:prstGeom>
          <a:solidFill>
            <a:srgbClr val="546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sh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3421" y="4057741"/>
            <a:ext cx="296997" cy="296997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6415887" y="4535423"/>
            <a:ext cx="2229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0F2A44"/>
                </a:solidFill>
                <a:latin typeface="Segoe UI"/>
              </a:rPr>
              <a:t>Roles &amp; Permissions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15887" y="4956047"/>
            <a:ext cx="222953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5B6472"/>
                </a:solidFill>
                <a:latin typeface="Segoe UI"/>
              </a:rPr>
              <a:t>Define roles and review them in a full permission matrix.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088906" y="3803903"/>
            <a:ext cx="2595295" cy="2331720"/>
          </a:xfrm>
          <a:prstGeom prst="rect">
            <a:avLst/>
          </a:prstGeom>
          <a:solidFill>
            <a:srgbClr val="DC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9047758" y="3749039"/>
            <a:ext cx="2595295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9239782" y="3941063"/>
            <a:ext cx="530352" cy="530352"/>
          </a:xfrm>
          <a:prstGeom prst="ellipse">
            <a:avLst/>
          </a:prstGeom>
          <a:solidFill>
            <a:srgbClr val="546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lay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56460" y="4057741"/>
            <a:ext cx="296997" cy="296997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9248926" y="4535423"/>
            <a:ext cx="2229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0F2A44"/>
                </a:solidFill>
                <a:latin typeface="Segoe UI"/>
              </a:rPr>
              <a:t>Menus &amp; Modules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48926" y="4956047"/>
            <a:ext cx="222953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5B6472"/>
                </a:solidFill>
                <a:latin typeface="Segoe UI"/>
              </a:rPr>
              <a:t>Configure exactly which modules and nav items each role can see.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EduNexus  •  Advanced Platform Overview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384048" cy="54864"/>
          </a:xfrm>
          <a:prstGeom prst="rect">
            <a:avLst/>
          </a:prstGeom>
          <a:solidFill>
            <a:srgbClr val="546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54647D"/>
                </a:solidFill>
                <a:latin typeface="Segoe UI"/>
              </a:rPr>
              <a:t>ADMINISTRATION &amp;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F2A44"/>
                </a:solidFill>
                <a:latin typeface="Segoe UI"/>
              </a:rPr>
              <a:t>Configuration &amp; Compliance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89789" y="1837944"/>
            <a:ext cx="2595295" cy="2331720"/>
          </a:xfrm>
          <a:prstGeom prst="rect">
            <a:avLst/>
          </a:prstGeom>
          <a:solidFill>
            <a:srgbClr val="DC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1" y="1783080"/>
            <a:ext cx="2595295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40665" y="1975104"/>
            <a:ext cx="530352" cy="530352"/>
          </a:xfrm>
          <a:prstGeom prst="ellipse">
            <a:avLst/>
          </a:prstGeom>
          <a:solidFill>
            <a:srgbClr val="546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ge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343" y="2091782"/>
            <a:ext cx="296997" cy="29699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9809" y="2569464"/>
            <a:ext cx="2229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0F2A44"/>
                </a:solidFill>
                <a:latin typeface="Segoe UI"/>
              </a:rPr>
              <a:t>System Settings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9" y="2990088"/>
            <a:ext cx="222953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5B6472"/>
                </a:solidFill>
                <a:latin typeface="Segoe UI"/>
              </a:rPr>
              <a:t>Platform-wide configuration for email, SMS, storage, security &amp; branding.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22828" y="1837944"/>
            <a:ext cx="2595295" cy="2331720"/>
          </a:xfrm>
          <a:prstGeom prst="rect">
            <a:avLst/>
          </a:prstGeom>
          <a:solidFill>
            <a:srgbClr val="DC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81680" y="1783080"/>
            <a:ext cx="2595295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73704" y="1975104"/>
            <a:ext cx="530352" cy="530352"/>
          </a:xfrm>
          <a:prstGeom prst="ellipse">
            <a:avLst/>
          </a:prstGeom>
          <a:solidFill>
            <a:srgbClr val="546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ge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0382" y="2091782"/>
            <a:ext cx="296997" cy="296997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582848" y="2569464"/>
            <a:ext cx="2229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0F2A44"/>
                </a:solidFill>
                <a:latin typeface="Segoe UI"/>
              </a:rPr>
              <a:t>School Settings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82848" y="2990088"/>
            <a:ext cx="222953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5B6472"/>
                </a:solidFill>
                <a:latin typeface="Segoe UI"/>
              </a:rPr>
              <a:t>Per-school rules for sessions, attendance, grading, promotion &amp; fees.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55867" y="1837944"/>
            <a:ext cx="2595295" cy="2331720"/>
          </a:xfrm>
          <a:prstGeom prst="rect">
            <a:avLst/>
          </a:prstGeom>
          <a:solidFill>
            <a:srgbClr val="DC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14719" y="1783080"/>
            <a:ext cx="2595295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06743" y="1975104"/>
            <a:ext cx="530352" cy="530352"/>
          </a:xfrm>
          <a:prstGeom prst="ellipse">
            <a:avLst/>
          </a:prstGeom>
          <a:solidFill>
            <a:srgbClr val="546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do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3421" y="2091782"/>
            <a:ext cx="296997" cy="296997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415887" y="2569464"/>
            <a:ext cx="2229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0F2A44"/>
                </a:solidFill>
                <a:latin typeface="Segoe UI"/>
              </a:rPr>
              <a:t>Audit Logs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5887" y="2990088"/>
            <a:ext cx="222953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5B6472"/>
                </a:solidFill>
                <a:latin typeface="Segoe UI"/>
              </a:rPr>
              <a:t>A complete, searchable history of who changed what, when, and from where.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88906" y="1837944"/>
            <a:ext cx="2595295" cy="2331720"/>
          </a:xfrm>
          <a:prstGeom prst="rect">
            <a:avLst/>
          </a:prstGeom>
          <a:solidFill>
            <a:srgbClr val="DC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047758" y="1783080"/>
            <a:ext cx="2595295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239782" y="1975104"/>
            <a:ext cx="530352" cy="530352"/>
          </a:xfrm>
          <a:prstGeom prst="ellipse">
            <a:avLst/>
          </a:prstGeom>
          <a:solidFill>
            <a:srgbClr val="546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be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6460" y="2091782"/>
            <a:ext cx="296997" cy="296997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248926" y="2569464"/>
            <a:ext cx="2229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0F2A44"/>
                </a:solidFill>
                <a:latin typeface="Segoe UI"/>
              </a:rPr>
              <a:t>Notifications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48926" y="2990088"/>
            <a:ext cx="222953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5B6472"/>
                </a:solidFill>
                <a:latin typeface="Segoe UI"/>
              </a:rPr>
              <a:t>A personal in-app inbox that keeps every user informed.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EduNexus  •  Advanced Platform Overview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81829"/>
              </a:gs>
              <a:gs pos="100000">
                <a:srgbClr val="0F2A44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14255" y="-2011680"/>
            <a:ext cx="5669280" cy="5669280"/>
          </a:xfrm>
          <a:prstGeom prst="ellipse">
            <a:avLst/>
          </a:prstGeom>
          <a:solidFill>
            <a:srgbClr val="DB8A0B"/>
            <a:alpha val="1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828800" y="4663440"/>
            <a:ext cx="4023360" cy="4023360"/>
          </a:xfrm>
          <a:prstGeom prst="ellipse">
            <a:avLst/>
          </a:prstGeom>
          <a:solidFill>
            <a:srgbClr val="FFB020"/>
            <a:alpha val="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B8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1520" y="1188719"/>
            <a:ext cx="1371600" cy="1371600"/>
          </a:xfrm>
          <a:prstGeom prst="ellipse">
            <a:avLst/>
          </a:prstGeom>
          <a:solidFill>
            <a:srgbClr val="DB8A0B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glo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" y="1531619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2788920"/>
            <a:ext cx="2011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2A4C74"/>
                </a:solidFill>
                <a:latin typeface="Segoe UI"/>
              </a:rPr>
              <a:t>09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3657600"/>
            <a:ext cx="640080" cy="54864"/>
          </a:xfrm>
          <a:prstGeom prst="rect">
            <a:avLst/>
          </a:prstGeom>
          <a:solidFill>
            <a:srgbClr val="DB8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3840480"/>
            <a:ext cx="9875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FFFFFF"/>
                </a:solidFill>
                <a:latin typeface="Segoe UI"/>
              </a:rPr>
              <a:t>Public Website &amp; Roadmap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553712"/>
            <a:ext cx="8961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B9C6D9"/>
                </a:solidFill>
                <a:latin typeface="Segoe UI"/>
              </a:rPr>
              <a:t>Our public face, and what's next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B9C6D9"/>
                </a:solidFill>
                <a:latin typeface="Segoe UI"/>
              </a:rPr>
              <a:t>EduNexus  •  Advanced Platform Overview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B9C6D9"/>
                </a:solidFill>
                <a:latin typeface="Segoe U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384048" cy="54864"/>
          </a:xfrm>
          <a:prstGeom prst="rect">
            <a:avLst/>
          </a:prstGeom>
          <a:solidFill>
            <a:srgbClr val="DB8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B8A0B"/>
                </a:solidFill>
                <a:latin typeface="Segoe UI"/>
              </a:rPr>
              <a:t>PUBLIC WEBSITE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F2A44"/>
                </a:solidFill>
                <a:latin typeface="Segoe UI"/>
              </a:rPr>
              <a:t>Marketing Site &amp; Public Services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89788" y="1837944"/>
            <a:ext cx="3539642" cy="2331720"/>
          </a:xfrm>
          <a:prstGeom prst="rect">
            <a:avLst/>
          </a:prstGeom>
          <a:solidFill>
            <a:srgbClr val="DC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3539642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40664" y="1975104"/>
            <a:ext cx="530352" cy="530352"/>
          </a:xfrm>
          <a:prstGeom prst="ellipse">
            <a:avLst/>
          </a:prstGeom>
          <a:solidFill>
            <a:srgbClr val="DB8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glo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342" y="2091782"/>
            <a:ext cx="296997" cy="29699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9808" y="2569464"/>
            <a:ext cx="317388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0F2A44"/>
                </a:solidFill>
                <a:latin typeface="Segoe UI"/>
              </a:rPr>
              <a:t>Marketing Website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990088"/>
            <a:ext cx="317388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5B6472"/>
                </a:solidFill>
                <a:latin typeface="Segoe UI"/>
              </a:rPr>
              <a:t>A public landing page presenting EduNexus to prospective learners &amp; educators.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67174" y="1837944"/>
            <a:ext cx="3539642" cy="2331720"/>
          </a:xfrm>
          <a:prstGeom prst="rect">
            <a:avLst/>
          </a:prstGeom>
          <a:solidFill>
            <a:srgbClr val="DC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26026" y="1783080"/>
            <a:ext cx="3539642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18050" y="1975104"/>
            <a:ext cx="530352" cy="530352"/>
          </a:xfrm>
          <a:prstGeom prst="ellipse">
            <a:avLst/>
          </a:prstGeom>
          <a:solidFill>
            <a:srgbClr val="DB8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do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4728" y="2091782"/>
            <a:ext cx="296997" cy="296997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527194" y="2569464"/>
            <a:ext cx="317388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0F2A44"/>
                </a:solidFill>
                <a:latin typeface="Segoe UI"/>
              </a:rPr>
              <a:t>Public Form Links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7194" y="2990088"/>
            <a:ext cx="317388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5B6472"/>
                </a:solidFill>
                <a:latin typeface="Segoe UI"/>
              </a:rPr>
              <a:t>Admission and data-collection forms shared and filled out without a login.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44560" y="1837944"/>
            <a:ext cx="3539642" cy="2331720"/>
          </a:xfrm>
          <a:prstGeom prst="rect">
            <a:avLst/>
          </a:prstGeom>
          <a:solidFill>
            <a:srgbClr val="DC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103412" y="1783080"/>
            <a:ext cx="3539642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95436" y="1975104"/>
            <a:ext cx="530352" cy="530352"/>
          </a:xfrm>
          <a:prstGeom prst="ellipse">
            <a:avLst/>
          </a:prstGeom>
          <a:solidFill>
            <a:srgbClr val="DB8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q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114" y="2091782"/>
            <a:ext cx="296997" cy="296997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304580" y="2569464"/>
            <a:ext cx="317388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0F2A44"/>
                </a:solidFill>
                <a:latin typeface="Segoe UI"/>
              </a:rPr>
              <a:t>Document Verification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4580" y="2990088"/>
            <a:ext cx="317388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5B6472"/>
                </a:solidFill>
                <a:latin typeface="Segoe UI"/>
              </a:rPr>
              <a:t>Anyone can verify an issued certificate or report card via QR code.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EduNexus  •  Advanced Platform Overview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384048" cy="54864"/>
          </a:xfrm>
          <a:prstGeom prst="rect">
            <a:avLst/>
          </a:prstGeom>
          <a:solidFill>
            <a:srgbClr val="DB8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B8A0B"/>
                </a:solidFill>
                <a:latin typeface="Segoe UI"/>
              </a:rPr>
              <a:t>LOOKING AHEAD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F2A44"/>
                </a:solidFill>
                <a:latin typeface="Segoe UI"/>
              </a:rPr>
              <a:t>Roadmap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005840" y="3749039"/>
            <a:ext cx="10180015" cy="0"/>
          </a:xfrm>
          <a:prstGeom prst="line">
            <a:avLst/>
          </a:prstGeom>
          <a:ln w="38100">
            <a:solidFill>
              <a:srgbClr val="E3E8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1005840" y="2971799"/>
            <a:ext cx="0" cy="777240"/>
          </a:xfrm>
          <a:prstGeom prst="line">
            <a:avLst/>
          </a:prstGeom>
          <a:ln w="15875">
            <a:solidFill>
              <a:srgbClr val="E3E8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777240" y="3520439"/>
            <a:ext cx="457200" cy="457200"/>
          </a:xfrm>
          <a:prstGeom prst="ellipse">
            <a:avLst/>
          </a:prstGeom>
          <a:solidFill>
            <a:srgbClr val="DB8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l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3621023"/>
            <a:ext cx="256032" cy="2560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-45720" y="2057399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F2A44"/>
                </a:solidFill>
                <a:latin typeface="Segoe UI"/>
              </a:rPr>
              <a:t>Now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-45720" y="2423159"/>
            <a:ext cx="2103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5B6472"/>
                </a:solidFill>
                <a:latin typeface="Segoe UI"/>
              </a:rPr>
              <a:t>Transport management — routes, vehicles &amp; pickups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399178" y="3749039"/>
            <a:ext cx="0" cy="777240"/>
          </a:xfrm>
          <a:prstGeom prst="line">
            <a:avLst/>
          </a:prstGeom>
          <a:ln w="15875">
            <a:solidFill>
              <a:srgbClr val="E3E8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4170578" y="3520439"/>
            <a:ext cx="457200" cy="457200"/>
          </a:xfrm>
          <a:prstGeom prst="ellipse">
            <a:avLst/>
          </a:prstGeom>
          <a:solidFill>
            <a:srgbClr val="DB8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wall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1162" y="3621023"/>
            <a:ext cx="256032" cy="25603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347618" y="4617719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F2A44"/>
                </a:solidFill>
                <a:latin typeface="Segoe UI"/>
              </a:rPr>
              <a:t>Next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47618" y="4983479"/>
            <a:ext cx="2103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5B6472"/>
                </a:solidFill>
                <a:latin typeface="Segoe UI"/>
              </a:rPr>
              <a:t>Payroll &amp; leave management for HRMS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7792516" y="2971799"/>
            <a:ext cx="0" cy="777240"/>
          </a:xfrm>
          <a:prstGeom prst="line">
            <a:avLst/>
          </a:prstGeom>
          <a:ln w="15875">
            <a:solidFill>
              <a:srgbClr val="E3E8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7563916" y="3520439"/>
            <a:ext cx="457200" cy="457200"/>
          </a:xfrm>
          <a:prstGeom prst="ellipse">
            <a:avLst/>
          </a:prstGeom>
          <a:solidFill>
            <a:srgbClr val="DB8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med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4500" y="3621023"/>
            <a:ext cx="256032" cy="25603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740956" y="2057399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F2A44"/>
                </a:solidFill>
                <a:latin typeface="Segoe UI"/>
              </a:rPr>
              <a:t>Later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40956" y="2423159"/>
            <a:ext cx="2103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5B6472"/>
                </a:solidFill>
                <a:latin typeface="Segoe UI"/>
              </a:rPr>
              <a:t>Question bank for faster exam creation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1185854" y="3749039"/>
            <a:ext cx="0" cy="777240"/>
          </a:xfrm>
          <a:prstGeom prst="line">
            <a:avLst/>
          </a:prstGeom>
          <a:ln w="15875">
            <a:solidFill>
              <a:srgbClr val="E3E8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10957254" y="3520439"/>
            <a:ext cx="457200" cy="457200"/>
          </a:xfrm>
          <a:prstGeom prst="ellipse">
            <a:avLst/>
          </a:prstGeom>
          <a:solidFill>
            <a:srgbClr val="DB8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57838" y="3621023"/>
            <a:ext cx="256032" cy="25603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0134294" y="4617719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F2A44"/>
                </a:solidFill>
                <a:latin typeface="Segoe UI"/>
              </a:rPr>
              <a:t>Future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34294" y="4983479"/>
            <a:ext cx="2103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5B6472"/>
                </a:solidFill>
                <a:latin typeface="Segoe UI"/>
              </a:rPr>
              <a:t>Advanced reporting &amp; analytics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03504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5B6472"/>
                </a:solidFill>
                <a:latin typeface="Segoe UI"/>
              </a:rPr>
              <a:t>Roadmap items reflect current development priorities and are subject to change.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EduNexus  •  Advanced Platform Overview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384048" cy="54864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B020"/>
                </a:solidFill>
                <a:latin typeface="Segoe UI"/>
              </a:rPr>
              <a:t>PLATFORM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F2A44"/>
                </a:solidFill>
                <a:latin typeface="Segoe UI"/>
              </a:rPr>
              <a:t>Modules by Suite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0080" y="1783080"/>
          <a:ext cx="1088136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EduNexus  •  Advanced Platform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384048" cy="54864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B020"/>
                </a:solidFill>
                <a:latin typeface="Segoe UI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F2A44"/>
                </a:solidFill>
                <a:latin typeface="Segoe UI"/>
              </a:rPr>
              <a:t>Why EduNexus</a:t>
            </a:r>
          </a:p>
        </p:txBody>
      </p:sp>
      <p:sp>
        <p:nvSpPr>
          <p:cNvPr id="6" name="Rectangle 5"/>
          <p:cNvSpPr/>
          <p:nvPr/>
        </p:nvSpPr>
        <p:spPr>
          <a:xfrm>
            <a:off x="589789" y="1929383"/>
            <a:ext cx="2595295" cy="2331720"/>
          </a:xfrm>
          <a:prstGeom prst="rect">
            <a:avLst/>
          </a:prstGeom>
          <a:solidFill>
            <a:srgbClr val="DC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1" y="1874519"/>
            <a:ext cx="2595295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40665" y="2066543"/>
            <a:ext cx="530352" cy="530352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ay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343" y="2183221"/>
            <a:ext cx="296997" cy="29699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9809" y="2660903"/>
            <a:ext cx="2229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0F2A44"/>
                </a:solidFill>
                <a:latin typeface="Segoe UI"/>
              </a:rPr>
              <a:t>One Platform, Fewer Tools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9" y="3081527"/>
            <a:ext cx="222953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5B6472"/>
                </a:solidFill>
                <a:latin typeface="Segoe UI"/>
              </a:rPr>
              <a:t>Replaces disconnected tools for admissions, academics, exams, fees, HR &amp; communication.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22828" y="1929383"/>
            <a:ext cx="2595295" cy="2331720"/>
          </a:xfrm>
          <a:prstGeom prst="rect">
            <a:avLst/>
          </a:prstGeom>
          <a:solidFill>
            <a:srgbClr val="DC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81680" y="1874519"/>
            <a:ext cx="2595295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73704" y="2066543"/>
            <a:ext cx="530352" cy="530352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build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0382" y="2183221"/>
            <a:ext cx="296997" cy="296997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582848" y="2660903"/>
            <a:ext cx="2229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0F2A44"/>
                </a:solidFill>
                <a:latin typeface="Segoe UI"/>
              </a:rPr>
              <a:t>Built to Scale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82848" y="3081527"/>
            <a:ext cx="222953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5B6472"/>
                </a:solidFill>
                <a:latin typeface="Segoe UI"/>
              </a:rPr>
              <a:t>One deployment serves an entire group of schools with clean tenant-level isolation.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55867" y="1929383"/>
            <a:ext cx="2595295" cy="2331720"/>
          </a:xfrm>
          <a:prstGeom prst="rect">
            <a:avLst/>
          </a:prstGeom>
          <a:solidFill>
            <a:srgbClr val="DC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14719" y="1874519"/>
            <a:ext cx="2595295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06743" y="2066543"/>
            <a:ext cx="530352" cy="530352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3421" y="2183221"/>
            <a:ext cx="296997" cy="296997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415887" y="2660903"/>
            <a:ext cx="2229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0F2A44"/>
                </a:solidFill>
                <a:latin typeface="Segoe UI"/>
              </a:rPr>
              <a:t>Secure by Design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5887" y="3081527"/>
            <a:ext cx="222953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5B6472"/>
                </a:solidFill>
                <a:latin typeface="Segoe UI"/>
              </a:rPr>
              <a:t>Every action is governed by role-based permissions and logged for audit.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88906" y="1929383"/>
            <a:ext cx="2595295" cy="2331720"/>
          </a:xfrm>
          <a:prstGeom prst="rect">
            <a:avLst/>
          </a:prstGeom>
          <a:solidFill>
            <a:srgbClr val="DC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047758" y="1874519"/>
            <a:ext cx="2595295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239782" y="2066543"/>
            <a:ext cx="530352" cy="530352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spark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56460" y="2183221"/>
            <a:ext cx="296997" cy="296997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248926" y="2660903"/>
            <a:ext cx="2229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0F2A44"/>
                </a:solidFill>
                <a:latin typeface="Segoe UI"/>
              </a:rPr>
              <a:t>Ready to Grow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48926" y="3081527"/>
            <a:ext cx="222953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5B6472"/>
                </a:solidFill>
                <a:latin typeface="Segoe UI"/>
              </a:rPr>
              <a:t>AI assistance and automation today, with transport, payroll &amp; analytics on the roadmap.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EduNexus  •  Advanced Platform Overview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81829"/>
              </a:gs>
              <a:gs pos="100000">
                <a:srgbClr val="0F2A44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14255" y="-2011680"/>
            <a:ext cx="5669280" cy="5669280"/>
          </a:xfrm>
          <a:prstGeom prst="ellipse">
            <a:avLst/>
          </a:prstGeom>
          <a:solidFill>
            <a:srgbClr val="2F6FED"/>
            <a:alpha val="1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828800" y="4663440"/>
            <a:ext cx="4023360" cy="4023360"/>
          </a:xfrm>
          <a:prstGeom prst="ellipse">
            <a:avLst/>
          </a:prstGeom>
          <a:solidFill>
            <a:srgbClr val="FFB020"/>
            <a:alpha val="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788920"/>
            <a:ext cx="9144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000" b="1" i="0">
                <a:solidFill>
                  <a:srgbClr val="FFFFFF"/>
                </a:solidFill>
                <a:latin typeface="Segoe UI"/>
              </a:rPr>
              <a:t>Thank You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3657600"/>
            <a:ext cx="731520" cy="54864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8404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B9C6D9"/>
                </a:solidFill>
                <a:latin typeface="Segoe UI"/>
              </a:rPr>
              <a:t>Questions &amp; Discussion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B9C6D9"/>
                </a:solidFill>
                <a:latin typeface="Segoe UI"/>
              </a:rPr>
              <a:t>EduNexus  •  Advanced Platform Overview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B9C6D9"/>
                </a:solidFill>
                <a:latin typeface="Segoe UI"/>
              </a:rPr>
              <a:t>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
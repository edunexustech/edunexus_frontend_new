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Modules</c:v>
                </c:pt>
              </c:strCache>
            </c:strRef>
          </c:tx>
          <c:spPr>
            <a:solidFill>
              <a:srgbClr val="2F6FED"/>
            </a:solidFill>
          </c:spPr>
          <c:cat>
            <c:strRef>
              <c:f>Sheet1!$A$2:$A$10</c:f>
              <c:strCache>
                <c:ptCount val="9"/>
                <c:pt idx="0">
                  <c:v>Admin &amp; Security</c:v>
                </c:pt>
                <c:pt idx="1">
                  <c:v>Teaching &amp; Exams</c:v>
                </c:pt>
                <c:pt idx="2">
                  <c:v>Academics</c:v>
                </c:pt>
                <c:pt idx="3">
                  <c:v>Admissions</c:v>
                </c:pt>
                <c:pt idx="4">
                  <c:v>Students &amp; Family</c:v>
                </c:pt>
                <c:pt idx="5">
                  <c:v>Finance</c:v>
                </c:pt>
                <c:pt idx="6">
                  <c:v>Communication</c:v>
                </c:pt>
                <c:pt idx="7">
                  <c:v>Public &amp; Roadmap</c:v>
                </c:pt>
                <c:pt idx="8">
                  <c:v>AI &amp; Automation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</c:v>
                </c:pt>
                <c:pt idx="1">
                  <c:v>7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3</c:v>
                </c:pt>
                <c:pt idx="7">
                  <c:v>3</c:v>
                </c:pt>
                <c:pt idx="8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D2939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3E8EF"/>
            </a:solidFill>
          </a:ln>
        </c:spPr>
        <c:txPr>
          <a:bodyPr/>
          <a:lstStyle/>
          <a:p>
            <a:pPr>
              <a:defRPr sz="12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2F6FED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17320"/>
            <a:ext cx="429768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2331720"/>
            <a:ext cx="6400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FFFFFF"/>
                </a:solidFill>
                <a:latin typeface="Segoe UI"/>
              </a:rPr>
              <a:t>EduNexus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273552"/>
            <a:ext cx="914400" cy="6400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6309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D7E0EE"/>
                </a:solidFill>
                <a:latin typeface="Segoe UI"/>
              </a:rPr>
              <a:t>Unified School Management &amp; Learning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FA3C0"/>
                </a:solidFill>
                <a:latin typeface="Segoe UI"/>
              </a:rPr>
              <a:t>Visual Platform &amp; Module Walkthrough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C82A3"/>
                </a:solidFill>
                <a:latin typeface="Segoe UI"/>
              </a:rPr>
              <a:t>Prepared July 2026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What We'll Cover</a:t>
            </a:r>
          </a:p>
        </p:txBody>
      </p:sp>
      <p:sp>
        <p:nvSpPr>
          <p:cNvPr id="6" name="Oval 5"/>
          <p:cNvSpPr/>
          <p:nvPr/>
        </p:nvSpPr>
        <p:spPr>
          <a:xfrm>
            <a:off x="576072" y="1901951"/>
            <a:ext cx="530352" cy="530352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50" y="2018629"/>
            <a:ext cx="296997" cy="2969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4440" y="192938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185415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0F2A44"/>
                </a:solidFill>
                <a:latin typeface="Segoe UI"/>
              </a:rPr>
              <a:t>Executive Summary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2679191"/>
            <a:ext cx="530352" cy="53035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50" y="2795869"/>
            <a:ext cx="296997" cy="2969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4440" y="270662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962655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0F2A44"/>
                </a:solidFill>
                <a:latin typeface="Segoe UI"/>
              </a:rPr>
              <a:t>Platform Architecture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" y="3456431"/>
            <a:ext cx="530352" cy="530352"/>
          </a:xfrm>
          <a:prstGeom prst="ellipse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eo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50" y="3573109"/>
            <a:ext cx="296997" cy="2969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4440" y="348386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739895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0F2A44"/>
                </a:solidFill>
                <a:latin typeface="Segoe UI"/>
              </a:rPr>
              <a:t>User Personas</a:t>
            </a:r>
          </a:p>
        </p:txBody>
      </p:sp>
      <p:sp>
        <p:nvSpPr>
          <p:cNvPr id="18" name="Oval 17"/>
          <p:cNvSpPr/>
          <p:nvPr/>
        </p:nvSpPr>
        <p:spPr>
          <a:xfrm>
            <a:off x="576072" y="4233671"/>
            <a:ext cx="530352" cy="53035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750" y="4350349"/>
            <a:ext cx="296997" cy="29699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34440" y="426110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517135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0F2A44"/>
                </a:solidFill>
                <a:latin typeface="Segoe UI"/>
              </a:rPr>
              <a:t>Admissions &amp; Enrollment</a:t>
            </a:r>
          </a:p>
        </p:txBody>
      </p:sp>
      <p:sp>
        <p:nvSpPr>
          <p:cNvPr id="22" name="Oval 21"/>
          <p:cNvSpPr/>
          <p:nvPr/>
        </p:nvSpPr>
        <p:spPr>
          <a:xfrm>
            <a:off x="576072" y="5010911"/>
            <a:ext cx="530352" cy="530352"/>
          </a:xfrm>
          <a:prstGeom prst="ellipse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eo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50" y="5127589"/>
            <a:ext cx="296997" cy="29699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34440" y="503834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294375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0F2A44"/>
                </a:solidFill>
                <a:latin typeface="Segoe UI"/>
              </a:rPr>
              <a:t>Student, Staff &amp; Family</a:t>
            </a:r>
          </a:p>
        </p:txBody>
      </p:sp>
      <p:sp>
        <p:nvSpPr>
          <p:cNvPr id="26" name="Oval 25"/>
          <p:cNvSpPr/>
          <p:nvPr/>
        </p:nvSpPr>
        <p:spPr>
          <a:xfrm>
            <a:off x="576072" y="5788151"/>
            <a:ext cx="530352" cy="530352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alend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750" y="5904829"/>
            <a:ext cx="296997" cy="29699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34440" y="581558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6071615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0F2A44"/>
                </a:solidFill>
                <a:latin typeface="Segoe UI"/>
              </a:rPr>
              <a:t>Core Academic Operations</a:t>
            </a:r>
          </a:p>
        </p:txBody>
      </p:sp>
      <p:sp>
        <p:nvSpPr>
          <p:cNvPr id="30" name="Oval 29"/>
          <p:cNvSpPr/>
          <p:nvPr/>
        </p:nvSpPr>
        <p:spPr>
          <a:xfrm>
            <a:off x="6199632" y="1901951"/>
            <a:ext cx="530352" cy="530352"/>
          </a:xfrm>
          <a:prstGeom prst="ellipse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med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6310" y="2018629"/>
            <a:ext cx="296997" cy="29699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58000" y="192938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185415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0F2A44"/>
                </a:solidFill>
                <a:latin typeface="Segoe UI"/>
              </a:rPr>
              <a:t>Teaching, Learning &amp; Assessment</a:t>
            </a:r>
          </a:p>
        </p:txBody>
      </p:sp>
      <p:sp>
        <p:nvSpPr>
          <p:cNvPr id="34" name="Oval 33"/>
          <p:cNvSpPr/>
          <p:nvPr/>
        </p:nvSpPr>
        <p:spPr>
          <a:xfrm>
            <a:off x="6199632" y="2679191"/>
            <a:ext cx="530352" cy="530352"/>
          </a:xfrm>
          <a:prstGeom prst="ellipse">
            <a:avLst/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wall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6310" y="2795869"/>
            <a:ext cx="296997" cy="29699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0" y="270662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2962655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0F2A44"/>
                </a:solidFill>
                <a:latin typeface="Segoe UI"/>
              </a:rPr>
              <a:t>Finance</a:t>
            </a:r>
          </a:p>
        </p:txBody>
      </p:sp>
      <p:sp>
        <p:nvSpPr>
          <p:cNvPr id="38" name="Oval 37"/>
          <p:cNvSpPr/>
          <p:nvPr/>
        </p:nvSpPr>
        <p:spPr>
          <a:xfrm>
            <a:off x="6199632" y="3456431"/>
            <a:ext cx="530352" cy="530352"/>
          </a:xfrm>
          <a:prstGeom prst="ellipse">
            <a:avLst/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cha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6310" y="3573109"/>
            <a:ext cx="296997" cy="29699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858000" y="348386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739895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0F2A44"/>
                </a:solidFill>
                <a:latin typeface="Segoe UI"/>
              </a:rPr>
              <a:t>Communication &amp; Engagement</a:t>
            </a:r>
          </a:p>
        </p:txBody>
      </p:sp>
      <p:sp>
        <p:nvSpPr>
          <p:cNvPr id="42" name="Oval 41"/>
          <p:cNvSpPr/>
          <p:nvPr/>
        </p:nvSpPr>
        <p:spPr>
          <a:xfrm>
            <a:off x="6199632" y="4233671"/>
            <a:ext cx="530352" cy="530352"/>
          </a:xfrm>
          <a:prstGeom prst="ellipse">
            <a:avLst/>
          </a:prstGeom>
          <a:solidFill>
            <a:srgbClr val="53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spark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6310" y="4350349"/>
            <a:ext cx="296997" cy="29699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858000" y="426110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517135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0F2A44"/>
                </a:solidFill>
                <a:latin typeface="Segoe UI"/>
              </a:rPr>
              <a:t>AI &amp; Automation</a:t>
            </a:r>
          </a:p>
        </p:txBody>
      </p:sp>
      <p:sp>
        <p:nvSpPr>
          <p:cNvPr id="46" name="Oval 45"/>
          <p:cNvSpPr/>
          <p:nvPr/>
        </p:nvSpPr>
        <p:spPr>
          <a:xfrm>
            <a:off x="6199632" y="5010911"/>
            <a:ext cx="530352" cy="530352"/>
          </a:xfrm>
          <a:prstGeom prst="ellipse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shiel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6310" y="5127589"/>
            <a:ext cx="296997" cy="29699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858000" y="503834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5294375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0F2A44"/>
                </a:solidFill>
                <a:latin typeface="Segoe UI"/>
              </a:rPr>
              <a:t>Administration &amp; Security</a:t>
            </a:r>
          </a:p>
        </p:txBody>
      </p:sp>
      <p:sp>
        <p:nvSpPr>
          <p:cNvPr id="50" name="Oval 49"/>
          <p:cNvSpPr/>
          <p:nvPr/>
        </p:nvSpPr>
        <p:spPr>
          <a:xfrm>
            <a:off x="6199632" y="5788151"/>
            <a:ext cx="530352" cy="530352"/>
          </a:xfrm>
          <a:prstGeom prst="ellipse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glob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6310" y="5904829"/>
            <a:ext cx="296997" cy="29699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858000" y="5815583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6071615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0F2A44"/>
                </a:solidFill>
                <a:latin typeface="Segoe UI"/>
              </a:rPr>
              <a:t>Public Website &amp; Roadmap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Platform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68883" y="2066544"/>
            <a:ext cx="2542032" cy="228600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7735" y="2011680"/>
            <a:ext cx="254203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10131" y="2281428"/>
            <a:ext cx="777240" cy="77724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24" y="2452421"/>
            <a:ext cx="435254" cy="4352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7735" y="3218688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3-Tier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615" y="3749040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Multi-tenant architecture: Platform → Organization → School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66947" y="2066544"/>
            <a:ext cx="2542032" cy="228600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5799" y="2011680"/>
            <a:ext cx="254203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08195" y="2281428"/>
            <a:ext cx="777240" cy="77724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188" y="2452421"/>
            <a:ext cx="435254" cy="43525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25799" y="3218688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8679" y="3749040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Core suites covering the full institution lifecycle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5011" y="2066544"/>
            <a:ext cx="2542032" cy="228600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23863" y="2011680"/>
            <a:ext cx="254203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06259" y="2281428"/>
            <a:ext cx="777240" cy="777240"/>
          </a:xfrm>
          <a:prstGeom prst="ellipse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7252" y="2452421"/>
            <a:ext cx="435254" cy="43525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23863" y="3218688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6743" y="3749040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Modules &amp; sub-modules across the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63075" y="2066544"/>
            <a:ext cx="2542032" cy="228600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21927" y="2011680"/>
            <a:ext cx="254203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04323" y="2281428"/>
            <a:ext cx="777240" cy="777240"/>
          </a:xfrm>
          <a:prstGeom prst="ellipse">
            <a:avLst/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5316" y="2452421"/>
            <a:ext cx="435254" cy="43525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21927" y="3218688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4807" y="3749040"/>
            <a:ext cx="21762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Communication channels: Email, SMS, WhatsApp, Push, In-App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0916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1D2939"/>
                </a:solidFill>
                <a:latin typeface="Segoe UI"/>
              </a:rPr>
              <a:t>EduNexus consolidates admissions, academics, assessments, finance, HR, and communication into one secure platform — so a single deployment can serve an entire group of schools, each governed by its own role-based access model.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PLATFORM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One Platform, Many Schools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7171" y="2011680"/>
            <a:ext cx="2377440" cy="1188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5167" y="1965960"/>
            <a:ext cx="2377440" cy="1188720"/>
          </a:xfrm>
          <a:prstGeom prst="roundRect">
            <a:avLst>
              <a:gd name="adj" fmla="val 14000"/>
            </a:avLst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1199" y="2249424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uil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994" y="2386219"/>
            <a:ext cx="348203" cy="3482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1007" y="2221992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1007" y="2587752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3E9F3"/>
                </a:solidFill>
                <a:latin typeface="Segoe UI"/>
              </a:rPr>
              <a:t>Single deployment</a:t>
            </a:r>
          </a:p>
        </p:txBody>
      </p:sp>
      <p:sp>
        <p:nvSpPr>
          <p:cNvPr id="12" name="Chevron 11"/>
          <p:cNvSpPr/>
          <p:nvPr/>
        </p:nvSpPr>
        <p:spPr>
          <a:xfrm>
            <a:off x="3087471" y="2377440"/>
            <a:ext cx="347472" cy="365760"/>
          </a:xfrm>
          <a:prstGeom prst="chevron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1811" y="2011680"/>
            <a:ext cx="2377440" cy="1188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89807" y="1965960"/>
            <a:ext cx="2377440" cy="1188720"/>
          </a:xfrm>
          <a:prstGeom prst="roundRect">
            <a:avLst>
              <a:gd name="adj" fmla="val 14000"/>
            </a:avLst>
          </a:prstGeom>
          <a:solidFill>
            <a:srgbClr val="1B4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45839" y="2249424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634" y="2386219"/>
            <a:ext cx="348203" cy="34820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95647" y="2221992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Organization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5647" y="2587752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3E9F3"/>
                </a:solidFill>
                <a:latin typeface="Segoe UI"/>
              </a:rPr>
              <a:t>Education group</a:t>
            </a:r>
          </a:p>
        </p:txBody>
      </p:sp>
      <p:sp>
        <p:nvSpPr>
          <p:cNvPr id="19" name="Chevron 18"/>
          <p:cNvSpPr/>
          <p:nvPr/>
        </p:nvSpPr>
        <p:spPr>
          <a:xfrm>
            <a:off x="5922111" y="2377440"/>
            <a:ext cx="347472" cy="365760"/>
          </a:xfrm>
          <a:prstGeom prst="chevron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6451" y="2011680"/>
            <a:ext cx="2377440" cy="1188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24447" y="1965960"/>
            <a:ext cx="2377440" cy="1188720"/>
          </a:xfrm>
          <a:prstGeom prst="roundRect">
            <a:avLst>
              <a:gd name="adj" fmla="val 14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80479" y="2249424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7274" y="2386219"/>
            <a:ext cx="348203" cy="34820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30287" y="2221992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School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0287" y="2587752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3E9F3"/>
                </a:solidFill>
                <a:latin typeface="Segoe UI"/>
              </a:rPr>
              <a:t>Individual school</a:t>
            </a:r>
          </a:p>
        </p:txBody>
      </p:sp>
      <p:sp>
        <p:nvSpPr>
          <p:cNvPr id="26" name="Chevron 25"/>
          <p:cNvSpPr/>
          <p:nvPr/>
        </p:nvSpPr>
        <p:spPr>
          <a:xfrm>
            <a:off x="8756751" y="2377440"/>
            <a:ext cx="347472" cy="365760"/>
          </a:xfrm>
          <a:prstGeom prst="chevron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91091" y="2011680"/>
            <a:ext cx="2377440" cy="1188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59087" y="1965960"/>
            <a:ext cx="2377440" cy="1188720"/>
          </a:xfrm>
          <a:prstGeom prst="roundRect">
            <a:avLst>
              <a:gd name="adj" fmla="val 14000"/>
            </a:avLst>
          </a:prstGeom>
          <a:solidFill>
            <a:srgbClr val="6DA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15119" y="2249424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eo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1914" y="2386219"/>
            <a:ext cx="348203" cy="34820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164927" y="2221992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Users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64927" y="2587752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3E9F3"/>
                </a:solidFill>
                <a:latin typeface="Segoe UI"/>
              </a:rPr>
              <a:t>Role-based access</a:t>
            </a:r>
          </a:p>
        </p:txBody>
      </p:sp>
      <p:sp>
        <p:nvSpPr>
          <p:cNvPr id="33" name="Oval 32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3803904"/>
            <a:ext cx="256032" cy="25603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43000" y="37033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A44"/>
                </a:solidFill>
                <a:latin typeface="Segoe UI"/>
              </a:rPr>
              <a:t>Super Admin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372160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Full platform control across all organizations and schools.</a:t>
            </a:r>
          </a:p>
        </p:txBody>
      </p:sp>
      <p:sp>
        <p:nvSpPr>
          <p:cNvPr id="37" name="Oval 36"/>
          <p:cNvSpPr/>
          <p:nvPr/>
        </p:nvSpPr>
        <p:spPr>
          <a:xfrm>
            <a:off x="548640" y="4361688"/>
            <a:ext cx="457200" cy="45720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buil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4462272"/>
            <a:ext cx="256032" cy="25603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43000" y="436168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A44"/>
                </a:solidFill>
                <a:latin typeface="Segoe UI"/>
              </a:rPr>
              <a:t>Organization Admin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39" y="4379976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Manages multiple schools within their group.</a:t>
            </a:r>
          </a:p>
        </p:txBody>
      </p:sp>
      <p:sp>
        <p:nvSpPr>
          <p:cNvPr id="41" name="Oval 40"/>
          <p:cNvSpPr/>
          <p:nvPr/>
        </p:nvSpPr>
        <p:spPr>
          <a:xfrm>
            <a:off x="548640" y="5020056"/>
            <a:ext cx="457200" cy="457200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120640"/>
            <a:ext cx="256032" cy="25603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143000" y="502005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A44"/>
                </a:solidFill>
                <a:latin typeface="Segoe UI"/>
              </a:rPr>
              <a:t>School Admin &amp; Staff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77639" y="503834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Runs daily school operations end to end.</a:t>
            </a:r>
          </a:p>
        </p:txBody>
      </p:sp>
      <p:sp>
        <p:nvSpPr>
          <p:cNvPr id="45" name="Oval 44"/>
          <p:cNvSpPr/>
          <p:nvPr/>
        </p:nvSpPr>
        <p:spPr>
          <a:xfrm>
            <a:off x="548640" y="5678424"/>
            <a:ext cx="457200" cy="457200"/>
          </a:xfrm>
          <a:prstGeom prst="ellipse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peo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5779008"/>
            <a:ext cx="256032" cy="25603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143000" y="567842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A44"/>
                </a:solidFill>
                <a:latin typeface="Segoe UI"/>
              </a:rPr>
              <a:t>Teachers, Parents &amp; Students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77639" y="569671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Role-specific portal access to classes, records, and updates.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PLATFORM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Nine Suites, One Platform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6095847" y="1691639"/>
            <a:ext cx="0" cy="2286000"/>
          </a:xfrm>
          <a:prstGeom prst="line">
            <a:avLst/>
          </a:prstGeom>
          <a:ln w="1905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095847" y="2226461"/>
            <a:ext cx="1469412" cy="1751178"/>
          </a:xfrm>
          <a:prstGeom prst="line">
            <a:avLst/>
          </a:prstGeom>
          <a:ln w="19050">
            <a:solidFill>
              <a:srgbClr val="0EA9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095847" y="3580679"/>
            <a:ext cx="2251270" cy="396960"/>
          </a:xfrm>
          <a:prstGeom prst="line">
            <a:avLst/>
          </a:prstGeom>
          <a:ln w="19050">
            <a:solidFill>
              <a:srgbClr val="7C5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5847" y="3977639"/>
            <a:ext cx="1979734" cy="1143000"/>
          </a:xfrm>
          <a:prstGeom prst="line">
            <a:avLst/>
          </a:prstGeom>
          <a:ln w="19050">
            <a:solidFill>
              <a:srgbClr val="E84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847" y="3977639"/>
            <a:ext cx="781858" cy="2148137"/>
          </a:xfrm>
          <a:prstGeom prst="line">
            <a:avLst/>
          </a:prstGeom>
          <a:ln w="19050">
            <a:solidFill>
              <a:srgbClr val="1FA9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313988" y="3977639"/>
            <a:ext cx="781859" cy="2148137"/>
          </a:xfrm>
          <a:prstGeom prst="line">
            <a:avLst/>
          </a:prstGeom>
          <a:ln w="19050">
            <a:solidFill>
              <a:srgbClr val="E047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116112" y="3977639"/>
            <a:ext cx="1979735" cy="1143000"/>
          </a:xfrm>
          <a:prstGeom prst="line">
            <a:avLst/>
          </a:prstGeom>
          <a:ln w="19050">
            <a:solidFill>
              <a:srgbClr val="535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3844576" y="3580679"/>
            <a:ext cx="2251271" cy="396960"/>
          </a:xfrm>
          <a:prstGeom prst="line">
            <a:avLst/>
          </a:prstGeom>
          <a:ln w="19050">
            <a:solidFill>
              <a:srgbClr val="54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4626434" y="2226461"/>
            <a:ext cx="1469413" cy="1751178"/>
          </a:xfrm>
          <a:prstGeom prst="line">
            <a:avLst/>
          </a:prstGeom>
          <a:ln w="19050">
            <a:solidFill>
              <a:srgbClr val="DB8A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318607" y="3200399"/>
            <a:ext cx="1554480" cy="1554480"/>
          </a:xfrm>
          <a:prstGeom prst="ellipse">
            <a:avLst/>
          </a:prstGeom>
          <a:solidFill>
            <a:srgbClr val="0F2A44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FFFFF"/>
                </a:solidFill>
                <a:latin typeface="Segoe UI"/>
              </a:rPr>
              <a:t>EduNexus</a:t>
            </a:r>
          </a:p>
        </p:txBody>
      </p:sp>
      <p:sp>
        <p:nvSpPr>
          <p:cNvPr id="16" name="Oval 15"/>
          <p:cNvSpPr/>
          <p:nvPr/>
        </p:nvSpPr>
        <p:spPr>
          <a:xfrm>
            <a:off x="5720943" y="1316735"/>
            <a:ext cx="749808" cy="749808"/>
          </a:xfrm>
          <a:prstGeom prst="ellipse">
            <a:avLst/>
          </a:prstGeom>
          <a:solidFill>
            <a:srgbClr val="2F6FE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901" y="1481693"/>
            <a:ext cx="419892" cy="4198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18607" y="777239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0F2A44"/>
                </a:solidFill>
                <a:latin typeface="Segoe UI"/>
              </a:rPr>
              <a:t>Admissions</a:t>
            </a:r>
          </a:p>
        </p:txBody>
      </p:sp>
      <p:sp>
        <p:nvSpPr>
          <p:cNvPr id="19" name="Oval 18"/>
          <p:cNvSpPr/>
          <p:nvPr/>
        </p:nvSpPr>
        <p:spPr>
          <a:xfrm>
            <a:off x="7190355" y="1851557"/>
            <a:ext cx="749808" cy="749808"/>
          </a:xfrm>
          <a:prstGeom prst="ellipse">
            <a:avLst/>
          </a:prstGeom>
          <a:solidFill>
            <a:srgbClr val="0EA99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eo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313" y="2016515"/>
            <a:ext cx="419892" cy="4198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88019" y="1312061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0F2A44"/>
                </a:solidFill>
                <a:latin typeface="Segoe UI"/>
              </a:rPr>
              <a:t>Students &amp; Family</a:t>
            </a:r>
          </a:p>
        </p:txBody>
      </p:sp>
      <p:sp>
        <p:nvSpPr>
          <p:cNvPr id="22" name="Oval 21"/>
          <p:cNvSpPr/>
          <p:nvPr/>
        </p:nvSpPr>
        <p:spPr>
          <a:xfrm>
            <a:off x="7972213" y="3205775"/>
            <a:ext cx="749808" cy="749808"/>
          </a:xfrm>
          <a:prstGeom prst="ellipse">
            <a:avLst/>
          </a:prstGeom>
          <a:solidFill>
            <a:srgbClr val="7C5CF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171" y="3370733"/>
            <a:ext cx="419892" cy="41989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69877" y="4083599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0F2A44"/>
                </a:solidFill>
                <a:latin typeface="Segoe UI"/>
              </a:rPr>
              <a:t>Academics</a:t>
            </a:r>
          </a:p>
        </p:txBody>
      </p:sp>
      <p:sp>
        <p:nvSpPr>
          <p:cNvPr id="25" name="Oval 24"/>
          <p:cNvSpPr/>
          <p:nvPr/>
        </p:nvSpPr>
        <p:spPr>
          <a:xfrm>
            <a:off x="7700677" y="4745735"/>
            <a:ext cx="749808" cy="749808"/>
          </a:xfrm>
          <a:prstGeom prst="ellipse">
            <a:avLst/>
          </a:prstGeom>
          <a:solidFill>
            <a:srgbClr val="E84B5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ed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5635" y="4910693"/>
            <a:ext cx="419892" cy="41989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98341" y="5623559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0F2A44"/>
                </a:solidFill>
                <a:latin typeface="Segoe UI"/>
              </a:rPr>
              <a:t>Teaching &amp; Exams</a:t>
            </a:r>
          </a:p>
        </p:txBody>
      </p:sp>
      <p:sp>
        <p:nvSpPr>
          <p:cNvPr id="28" name="Oval 27"/>
          <p:cNvSpPr/>
          <p:nvPr/>
        </p:nvSpPr>
        <p:spPr>
          <a:xfrm>
            <a:off x="6502801" y="5750872"/>
            <a:ext cx="749808" cy="749808"/>
          </a:xfrm>
          <a:prstGeom prst="ellipse">
            <a:avLst/>
          </a:prstGeom>
          <a:solidFill>
            <a:srgbClr val="1FA95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wall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759" y="5915830"/>
            <a:ext cx="419892" cy="41989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100465" y="6628696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0F2A44"/>
                </a:solidFill>
                <a:latin typeface="Segoe UI"/>
              </a:rPr>
              <a:t>Finance</a:t>
            </a:r>
          </a:p>
        </p:txBody>
      </p:sp>
      <p:sp>
        <p:nvSpPr>
          <p:cNvPr id="31" name="Oval 30"/>
          <p:cNvSpPr/>
          <p:nvPr/>
        </p:nvSpPr>
        <p:spPr>
          <a:xfrm>
            <a:off x="4939084" y="5750872"/>
            <a:ext cx="749808" cy="749808"/>
          </a:xfrm>
          <a:prstGeom prst="ellipse">
            <a:avLst/>
          </a:prstGeom>
          <a:solidFill>
            <a:srgbClr val="E0479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h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4042" y="5915830"/>
            <a:ext cx="419892" cy="41989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536748" y="6628696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0F2A44"/>
                </a:solidFill>
                <a:latin typeface="Segoe UI"/>
              </a:rPr>
              <a:t>Communication</a:t>
            </a:r>
          </a:p>
        </p:txBody>
      </p:sp>
      <p:sp>
        <p:nvSpPr>
          <p:cNvPr id="34" name="Oval 33"/>
          <p:cNvSpPr/>
          <p:nvPr/>
        </p:nvSpPr>
        <p:spPr>
          <a:xfrm>
            <a:off x="3741208" y="4745735"/>
            <a:ext cx="749808" cy="749808"/>
          </a:xfrm>
          <a:prstGeom prst="ellipse">
            <a:avLst/>
          </a:prstGeom>
          <a:solidFill>
            <a:srgbClr val="5357E8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park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6166" y="4910693"/>
            <a:ext cx="419892" cy="41989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338872" y="5623559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0F2A44"/>
                </a:solidFill>
                <a:latin typeface="Segoe UI"/>
              </a:rPr>
              <a:t>AI &amp; Automation</a:t>
            </a:r>
          </a:p>
        </p:txBody>
      </p:sp>
      <p:sp>
        <p:nvSpPr>
          <p:cNvPr id="37" name="Oval 36"/>
          <p:cNvSpPr/>
          <p:nvPr/>
        </p:nvSpPr>
        <p:spPr>
          <a:xfrm>
            <a:off x="3469672" y="3205775"/>
            <a:ext cx="749808" cy="749808"/>
          </a:xfrm>
          <a:prstGeom prst="ellipse">
            <a:avLst/>
          </a:prstGeom>
          <a:solidFill>
            <a:srgbClr val="54647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hie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4630" y="3370733"/>
            <a:ext cx="419892" cy="41989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067336" y="4083599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0F2A44"/>
                </a:solidFill>
                <a:latin typeface="Segoe UI"/>
              </a:rPr>
              <a:t>Admin &amp; Security</a:t>
            </a:r>
          </a:p>
        </p:txBody>
      </p:sp>
      <p:sp>
        <p:nvSpPr>
          <p:cNvPr id="40" name="Oval 39"/>
          <p:cNvSpPr/>
          <p:nvPr/>
        </p:nvSpPr>
        <p:spPr>
          <a:xfrm>
            <a:off x="4251530" y="1851557"/>
            <a:ext cx="749808" cy="749808"/>
          </a:xfrm>
          <a:prstGeom prst="ellipse">
            <a:avLst/>
          </a:prstGeom>
          <a:solidFill>
            <a:srgbClr val="DB8A0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glob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16488" y="2016515"/>
            <a:ext cx="419892" cy="41989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849194" y="1312061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0F2A44"/>
                </a:solidFill>
                <a:latin typeface="Segoe UI"/>
              </a:rPr>
              <a:t>Public &amp; Roadmap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USER PERSONAS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Who Uses EduNexus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8" y="1929383"/>
            <a:ext cx="3515258" cy="214884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351525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2066543"/>
            <a:ext cx="530352" cy="530352"/>
          </a:xfrm>
          <a:prstGeom prst="ellipse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42" y="2183221"/>
            <a:ext cx="296997" cy="2969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2660903"/>
            <a:ext cx="314949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4"/>
                </a:solidFill>
                <a:latin typeface="Segoe UI"/>
              </a:rPr>
              <a:t>Super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044951"/>
            <a:ext cx="31494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Full control across every organization and school on the platform.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9366" y="1929383"/>
            <a:ext cx="3515258" cy="214884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874519"/>
            <a:ext cx="351525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30242" y="2066543"/>
            <a:ext cx="530352" cy="53035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920" y="2183221"/>
            <a:ext cx="296997" cy="2969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39386" y="2660903"/>
            <a:ext cx="314949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4"/>
                </a:solidFill>
                <a:latin typeface="Segoe UI"/>
              </a:rPr>
              <a:t>Organization 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9386" y="3044951"/>
            <a:ext cx="31494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Oversees multiple schools within one education group.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68944" y="1929383"/>
            <a:ext cx="3515258" cy="214884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27796" y="1874519"/>
            <a:ext cx="351525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19820" y="2066543"/>
            <a:ext cx="530352" cy="530352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498" y="2183221"/>
            <a:ext cx="296997" cy="29699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28964" y="2660903"/>
            <a:ext cx="314949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4"/>
                </a:solidFill>
                <a:latin typeface="Segoe UI"/>
              </a:rPr>
              <a:t>School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8964" y="3044951"/>
            <a:ext cx="31494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Runs day-to-day operations for a single school.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9788" y="4352543"/>
            <a:ext cx="3515258" cy="214884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4297679"/>
            <a:ext cx="351525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0664" y="4489703"/>
            <a:ext cx="530352" cy="530352"/>
          </a:xfrm>
          <a:prstGeom prst="ellipse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342" y="4606381"/>
            <a:ext cx="296997" cy="29699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49808" y="5084063"/>
            <a:ext cx="314949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4"/>
                </a:solidFill>
                <a:latin typeface="Segoe UI"/>
              </a:rPr>
              <a:t>Teacher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468111"/>
            <a:ext cx="31494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Manages classes, attendance, homework, lesson plans, and marks.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79366" y="4352543"/>
            <a:ext cx="3515258" cy="214884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38218" y="4297679"/>
            <a:ext cx="351525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0242" y="4489703"/>
            <a:ext cx="530352" cy="530352"/>
          </a:xfrm>
          <a:prstGeom prst="ellipse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peo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6920" y="4606381"/>
            <a:ext cx="296997" cy="29699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39386" y="5084063"/>
            <a:ext cx="314949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4"/>
                </a:solidFill>
                <a:latin typeface="Segoe UI"/>
              </a:rPr>
              <a:t>Parent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9386" y="5468111"/>
            <a:ext cx="31494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Portal access to a child's academics, attendance, fees, and updates.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68944" y="4352543"/>
            <a:ext cx="3515258" cy="214884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27796" y="4297679"/>
            <a:ext cx="3515258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19820" y="4489703"/>
            <a:ext cx="530352" cy="530352"/>
          </a:xfrm>
          <a:prstGeom prst="ellipse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med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6498" y="4606381"/>
            <a:ext cx="296997" cy="29699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28964" y="5084063"/>
            <a:ext cx="314949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A44"/>
                </a:solidFill>
                <a:latin typeface="Segoe UI"/>
              </a:rPr>
              <a:t>Student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8964" y="5468111"/>
            <a:ext cx="31494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B6472"/>
                </a:solidFill>
                <a:latin typeface="Segoe UI"/>
              </a:rPr>
              <a:t>Access to courses, assignments, results, and notices.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2F6FED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ad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3444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33172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2A4C74"/>
                </a:solidFill>
                <a:latin typeface="Segoe U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640080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383280"/>
            <a:ext cx="6492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Admissions &amp; Enrollment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96512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B9C6D9"/>
                </a:solidFill>
                <a:latin typeface="Segoe UI"/>
              </a:rPr>
              <a:t>From first enquiry to enrolled student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Segoe UI"/>
              </a:rPr>
              <a:t>ADMISSIONS &amp; ENROLLMENT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The Enrollment Journey, Visualized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" y="1947671"/>
            <a:ext cx="6126480" cy="382905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ad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6126480" cy="38290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202996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96912" y="196595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Admissions Hub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A visual pipeline moves every enquiry through follow-up, application, and confirmation.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299008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292607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Live Dashboard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Real-time leads, conversion rate, seat occupancy, and waitlists.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95020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388619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Conversion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Admitted applicants become official student records automatically.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491032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96912" y="484631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Form Builder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Drag-and-drop public forms with shareable links and response analytics.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0EA99E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3444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33172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2A4C74"/>
                </a:solidFill>
                <a:latin typeface="Segoe UI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640080" cy="54864"/>
          </a:xfrm>
          <a:prstGeom prst="rect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383280"/>
            <a:ext cx="6492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Student, Staff &amp; Family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96512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B9C6D9"/>
                </a:solidFill>
                <a:latin typeface="Segoe UI"/>
              </a:rPr>
              <a:t>A single source of truth for 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A99E"/>
                </a:solidFill>
                <a:latin typeface="Segoe UI"/>
              </a:rPr>
              <a:t>STUDENT, STAFF &amp; FAMILY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A Single Source of Truth for People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17159" y="1947671"/>
            <a:ext cx="6126480" cy="382905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295" y="1874519"/>
            <a:ext cx="6126480" cy="38290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202996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6595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Students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Core student information system with lifecycle status and fast search.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9008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92607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Teachers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Academic staff roster linked to HR employee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5020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88619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Parents &amp; Guardians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Household and guardian management with parent-portal access.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1032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EA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84631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Staff (HRMS)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Employee roster, onboarding, and department structure.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7C5CFC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acade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3444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33172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2A4C74"/>
                </a:solidFill>
                <a:latin typeface="Segoe UI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640080" cy="54864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383280"/>
            <a:ext cx="6492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Core Academic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96512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B9C6D9"/>
                </a:solidFill>
                <a:latin typeface="Segoe UI"/>
              </a:rPr>
              <a:t>Setting up and running the academic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5CFC"/>
                </a:solidFill>
                <a:latin typeface="Segoe UI"/>
              </a:rPr>
              <a:t>CORE ACADEMIC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Scheduling Without the Spreadsheets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" y="1947671"/>
            <a:ext cx="6126480" cy="382905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acade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6126480" cy="38290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202996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96912" y="196595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Academic Foundation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Activates classes and sections each year; manages curriculum and calendar.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299008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292607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Master Data &amp; MDM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Centralized boards, subjects, and grading schemes shared across schools.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95020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388619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Timetable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Period-by-period scheduling with automatic conflict detection.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491032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96912" y="484631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Attendance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Student, Teacher &amp; Employee attendance in one engine.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E84B5B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tea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3444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33172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2A4C74"/>
                </a:solidFill>
                <a:latin typeface="Segoe UI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640080" cy="54864"/>
          </a:xfrm>
          <a:prstGeom prst="rect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383280"/>
            <a:ext cx="6492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Teaching, Learning &amp;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96512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B9C6D9"/>
                </a:solidFill>
                <a:latin typeface="Segoe UI"/>
              </a:rPr>
              <a:t>Course delivery, exams, and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4B5B"/>
                </a:solidFill>
                <a:latin typeface="Segoe UI"/>
              </a:rPr>
              <a:t>TEACHING, LEARNING &amp;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From Course Studio to the Classroom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17159" y="1947671"/>
            <a:ext cx="6126480" cy="382905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l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295" y="1874519"/>
            <a:ext cx="6126480" cy="38290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202996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6595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Course Studio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Modules and lessons across offline, online, blended, and self-paced modes.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9008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92607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Assignments &amp; Homework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A shared draft-to-review workflow for teachers and students.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5020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88619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Lesson Plans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Teacher planning with a built-in approval workflow.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1032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84631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Quizzes &amp; Live Classes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Inline quizzes plus hooks into live-class tools.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4B5B"/>
                </a:solidFill>
                <a:latin typeface="Segoe UI"/>
              </a:rPr>
              <a:t>TEACHING, LEARNING &amp;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From Exam to Verified Report 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" y="1947671"/>
            <a:ext cx="6126480" cy="382905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ex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6126480" cy="38290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202996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96912" y="196595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Examinations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Exam creation, marks entry with approval, and result publishing.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299008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292607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Documents &amp; Report Cards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Drag-and-drop templates generate report cards and certificates.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95020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84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388619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Library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Book catalog with issue/return tracking linked to student accounts.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1FA95C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fi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3444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33172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2A4C74"/>
                </a:solidFill>
                <a:latin typeface="Segoe UI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640080" cy="54864"/>
          </a:xfrm>
          <a:prstGeom prst="rect">
            <a:avLst/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383280"/>
            <a:ext cx="6492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Finance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96512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B9C6D9"/>
                </a:solidFill>
                <a:latin typeface="Segoe UI"/>
              </a:rPr>
              <a:t>Fee collection and billing, end to 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A95C"/>
                </a:solidFill>
                <a:latin typeface="Segoe UI"/>
              </a:rPr>
              <a:t>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The Fee Lifecycle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17159" y="1947671"/>
            <a:ext cx="6126480" cy="382905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fi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295" y="1874519"/>
            <a:ext cx="6126480" cy="38290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202996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6595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Live Dashboard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Fees collected, outstanding, overdue, and pending invoices.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9008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92607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Collect Payment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Cash, UPI, card, and online gateway payments with instant receipts.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5020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88619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Assign Fees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Fee-head assignment by academic year with automatic invoicing.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1032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1FA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84631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Defaulters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Overdue-balance reporting for timely follow-up.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E04793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commun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3444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33172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2A4C74"/>
                </a:solidFill>
                <a:latin typeface="Segoe UI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640080" cy="54864"/>
          </a:xfrm>
          <a:prstGeom prst="rect">
            <a:avLst/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383280"/>
            <a:ext cx="6492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Communication &amp; Engagement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96512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B9C6D9"/>
                </a:solidFill>
                <a:latin typeface="Segoe UI"/>
              </a:rPr>
              <a:t>Reaching students, staff and parents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4793"/>
                </a:solidFill>
                <a:latin typeface="Segoe UI"/>
              </a:rPr>
              <a:t>COMMUNICATION &amp;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One Inbox for the Whole School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" y="1947671"/>
            <a:ext cx="6126480" cy="382905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commun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6126480" cy="38290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202996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96912" y="196595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Communications Hub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Announcements &amp; notifications across Email, SMS, WhatsApp &amp; push.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299008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292607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Reusable Templates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Standardized, on-brand messaging composed in one place.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95020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04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388619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EduNexus Post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A built-in, Gmail-style webmail client for staff.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5357E8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3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3444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33172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2A4C74"/>
                </a:solidFill>
                <a:latin typeface="Segoe UI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640080" cy="54864"/>
          </a:xfrm>
          <a:prstGeom prst="rect">
            <a:avLst/>
          </a:prstGeom>
          <a:solidFill>
            <a:srgbClr val="53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383280"/>
            <a:ext cx="6492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AI &amp;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96512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B9C6D9"/>
                </a:solidFill>
                <a:latin typeface="Segoe UI"/>
              </a:rPr>
              <a:t>The Nexus AI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53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357E8"/>
                </a:solidFill>
                <a:latin typeface="Segoe UI"/>
              </a:rPr>
              <a:t>AI &amp;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Ask Nexus Anything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17159" y="1947671"/>
            <a:ext cx="6126480" cy="382905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295" y="1874519"/>
            <a:ext cx="6126480" cy="38290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202996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53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6595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AI Assistant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Chat-based help for org, school, role, and LMS questions.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9008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53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92607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Automations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Configurable workflows for onboarding, reminders &amp; tips.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5020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535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88619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Built for Efficiency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Saves staff time on repetitive guidance and follow-up.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54647D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3444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33172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2A4C74"/>
                </a:solidFill>
                <a:latin typeface="Segoe UI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640080" cy="54864"/>
          </a:xfrm>
          <a:prstGeom prst="rect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383280"/>
            <a:ext cx="6492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Platform Administration &amp;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96512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B9C6D9"/>
                </a:solidFill>
                <a:latin typeface="Segoe UI"/>
              </a:rPr>
              <a:t>Governing the whole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4647D"/>
                </a:solidFill>
                <a:latin typeface="Segoe UI"/>
              </a:rPr>
              <a:t>ADMINISTRATION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Every Role, Precisely Scoped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" y="1947671"/>
            <a:ext cx="6126480" cy="382905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6126480" cy="38290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202996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96912" y="196595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Roles &amp; Permissions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Define roles and review them in a full permission matrix.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299008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292607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Organizations &amp; Schools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Manage the full tenant hierarchy end to 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95020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388619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Users &amp; Memberships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Manage accounts and organizational memberships.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491032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54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96912" y="484631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Audit Logs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A searchable history of who changed what, when, and from where.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DB8A0B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publ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3444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33172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2A4C74"/>
                </a:solidFill>
                <a:latin typeface="Segoe UI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640080" cy="54864"/>
          </a:xfrm>
          <a:prstGeom prst="rect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383280"/>
            <a:ext cx="6492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Public Website &amp;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96512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B9C6D9"/>
                </a:solidFill>
                <a:latin typeface="Segoe UI"/>
              </a:rPr>
              <a:t>Our public face, and what's 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B8A0B"/>
                </a:solidFill>
                <a:latin typeface="Segoe UI"/>
              </a:rPr>
              <a:t>PUBLIC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The First Impression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17159" y="1947671"/>
            <a:ext cx="6126480" cy="382905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publ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295" y="1874519"/>
            <a:ext cx="6126480" cy="38290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202996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6595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Marketing Website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A public landing page for prospective learners &amp; educators.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9008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92607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Public Form Links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Admission forms filled out without a login.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50207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886199"/>
            <a:ext cx="4391863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b="1" sz="1500">
                <a:solidFill>
                  <a:srgbClr val="0F2A44"/>
                </a:solidFill>
                <a:latin typeface="Segoe UI"/>
              </a:rPr>
              <a:t>Document Verification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150">
                <a:solidFill>
                  <a:srgbClr val="5B6472"/>
                </a:solidFill>
                <a:latin typeface="Segoe UI"/>
              </a:rPr>
              <a:t>Anyone can verify a certificate via QR code.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B8A0B"/>
                </a:solidFill>
                <a:latin typeface="Segoe UI"/>
              </a:rPr>
              <a:t>LOOKING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Roadmap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05840" y="3749039"/>
            <a:ext cx="10180015" cy="0"/>
          </a:xfrm>
          <a:prstGeom prst="line">
            <a:avLst/>
          </a:prstGeom>
          <a:ln w="3810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005840" y="2971799"/>
            <a:ext cx="0" cy="777240"/>
          </a:xfrm>
          <a:prstGeom prst="line">
            <a:avLst/>
          </a:prstGeom>
          <a:ln w="15875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77240" y="3520439"/>
            <a:ext cx="457200" cy="457200"/>
          </a:xfrm>
          <a:prstGeom prst="ellipse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621023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-45720" y="205739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45720" y="2423159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Transport management — routes, vehicles &amp; pickups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99178" y="3749039"/>
            <a:ext cx="0" cy="777240"/>
          </a:xfrm>
          <a:prstGeom prst="line">
            <a:avLst/>
          </a:prstGeom>
          <a:ln w="15875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170578" y="3520439"/>
            <a:ext cx="457200" cy="457200"/>
          </a:xfrm>
          <a:prstGeom prst="ellipse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162" y="3621023"/>
            <a:ext cx="256032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347618" y="461771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7618" y="4983479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Payroll &amp; leave management for HRMS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792516" y="2971799"/>
            <a:ext cx="0" cy="777240"/>
          </a:xfrm>
          <a:prstGeom prst="line">
            <a:avLst/>
          </a:prstGeom>
          <a:ln w="15875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563916" y="3520439"/>
            <a:ext cx="457200" cy="457200"/>
          </a:xfrm>
          <a:prstGeom prst="ellipse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med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500" y="3621023"/>
            <a:ext cx="256032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40956" y="205739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Later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0956" y="2423159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Question bank for faster exam creation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185854" y="3749039"/>
            <a:ext cx="0" cy="777240"/>
          </a:xfrm>
          <a:prstGeom prst="line">
            <a:avLst/>
          </a:prstGeom>
          <a:ln w="15875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957254" y="3520439"/>
            <a:ext cx="457200" cy="457200"/>
          </a:xfrm>
          <a:prstGeom prst="ellipse">
            <a:avLst/>
          </a:prstGeom>
          <a:solidFill>
            <a:srgbClr val="DB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7838" y="3621023"/>
            <a:ext cx="256032" cy="2560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134294" y="4617719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F2A44"/>
                </a:solidFill>
                <a:latin typeface="Segoe UI"/>
              </a:rPr>
              <a:t>Future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34294" y="4983479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B6472"/>
                </a:solidFill>
                <a:latin typeface="Segoe UI"/>
              </a:rPr>
              <a:t>Advanced reporting &amp;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0350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B6472"/>
                </a:solidFill>
                <a:latin typeface="Segoe UI"/>
              </a:rPr>
              <a:t>Roadmap items reflect current development priorities and are subject to change.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PLATFORM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Modules by Suite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83080"/>
          <a:ext cx="108813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384048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B020"/>
                </a:solidFill>
                <a:latin typeface="Segoe U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2A44"/>
                </a:solidFill>
                <a:latin typeface="Segoe UI"/>
              </a:rPr>
              <a:t>Why EduNexus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9" y="1929383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1" y="1874519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5" y="2066543"/>
            <a:ext cx="530352" cy="53035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43" y="2183221"/>
            <a:ext cx="296997" cy="2969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9" y="2660903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One Platform, Fewer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9" y="3044951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Replaces disconnected tools for admissions, academics, exams, fees, HR &amp; communication.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2828" y="1929383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1680" y="1874519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73704" y="2066543"/>
            <a:ext cx="530352" cy="53035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382" y="2183221"/>
            <a:ext cx="296997" cy="2969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82848" y="2660903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Built to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2848" y="3044951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One deployment serves an entire group of schools with clean tenant-level isolation.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5867" y="1929383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4719" y="1874519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6743" y="2066543"/>
            <a:ext cx="530352" cy="53035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421" y="2183221"/>
            <a:ext cx="296997" cy="29699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15887" y="2660903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Secure by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5887" y="3044951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Every action is governed by role-based permissions and logged for audit.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88906" y="1929383"/>
            <a:ext cx="2595295" cy="2331720"/>
          </a:xfrm>
          <a:prstGeom prst="rect">
            <a:avLst/>
          </a:prstGeom>
          <a:solidFill>
            <a:srgbClr val="DC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47758" y="1874519"/>
            <a:ext cx="2595295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39782" y="2066543"/>
            <a:ext cx="530352" cy="530352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park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6460" y="2183221"/>
            <a:ext cx="296997" cy="29699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48926" y="2660903"/>
            <a:ext cx="2229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A44"/>
                </a:solidFill>
                <a:latin typeface="Segoe UI"/>
              </a:rPr>
              <a:t>Ready to Grow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8926" y="3044951"/>
            <a:ext cx="2229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B6472"/>
                </a:solidFill>
                <a:latin typeface="Segoe UI"/>
              </a:rPr>
              <a:t>AI assistance and automation today, with transport, payroll &amp; analytics on the roadmap.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829"/>
              </a:gs>
              <a:gs pos="100000">
                <a:srgbClr val="0F2A44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14255" y="-2011680"/>
            <a:ext cx="5669280" cy="5669280"/>
          </a:xfrm>
          <a:prstGeom prst="ellipse">
            <a:avLst/>
          </a:prstGeom>
          <a:solidFill>
            <a:srgbClr val="2F6FED"/>
            <a:alpha val="1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663440"/>
            <a:ext cx="4023360" cy="4023360"/>
          </a:xfrm>
          <a:prstGeom prst="ellipse">
            <a:avLst/>
          </a:prstGeom>
          <a:solidFill>
            <a:srgbClr val="FFB020"/>
            <a:alpha val="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o_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0"/>
            <a:ext cx="3383280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278892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657600"/>
            <a:ext cx="731520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B9C6D9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EduNexus  •  Visual Platform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2881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9C6D9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
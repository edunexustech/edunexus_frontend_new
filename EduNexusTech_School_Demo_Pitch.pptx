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1732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1488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EDUNEXUSTECH PRESENTS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6583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Segoe UI"/>
              </a:rPr>
              <a:t>EduNexus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429000"/>
            <a:ext cx="914400" cy="6400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0EE"/>
                </a:solidFill>
                <a:latin typeface="Segoe UI"/>
              </a:rPr>
              <a:t>School Management, Reimagined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FA3C0"/>
                </a:solidFill>
                <a:latin typeface="Segoe UI"/>
              </a:rPr>
              <a:t>A Live Demo for Your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82A3"/>
                </a:solidFill>
                <a:latin typeface="Segoe UI"/>
              </a:rPr>
              <a:t>EduNexusTech  •  https://edunexustech.com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What We'll Cover Today</a:t>
            </a:r>
          </a:p>
        </p:txBody>
      </p:sp>
      <p:sp>
        <p:nvSpPr>
          <p:cNvPr id="6" name="Oval 5"/>
          <p:cNvSpPr/>
          <p:nvPr/>
        </p:nvSpPr>
        <p:spPr>
          <a:xfrm>
            <a:off x="676656" y="213969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81" y="2264421"/>
            <a:ext cx="317479" cy="317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21579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5059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F2A44"/>
                </a:solidFill>
                <a:latin typeface="Segoe UI"/>
              </a:rPr>
              <a:t>About EduNexusTech</a:t>
            </a:r>
          </a:p>
        </p:txBody>
      </p:sp>
      <p:sp>
        <p:nvSpPr>
          <p:cNvPr id="10" name="Oval 9"/>
          <p:cNvSpPr/>
          <p:nvPr/>
        </p:nvSpPr>
        <p:spPr>
          <a:xfrm>
            <a:off x="676656" y="309981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1" y="3224541"/>
            <a:ext cx="317479" cy="317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311810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1071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F2A44"/>
                </a:solidFill>
                <a:latin typeface="Segoe UI"/>
              </a:rPr>
              <a:t>The Challenge Schools Face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405993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park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1" y="4184661"/>
            <a:ext cx="317479" cy="3174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17320" y="407822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F2A44"/>
                </a:solidFill>
                <a:latin typeface="Segoe UI"/>
              </a:rPr>
              <a:t>Introducing EduNexus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502005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81" y="5144781"/>
            <a:ext cx="317479" cy="3174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17320" y="503834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33095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F2A44"/>
                </a:solidFill>
                <a:latin typeface="Segoe UI"/>
              </a:rPr>
              <a:t>Why Schools Choose Us</a:t>
            </a:r>
          </a:p>
        </p:txBody>
      </p:sp>
      <p:sp>
        <p:nvSpPr>
          <p:cNvPr id="22" name="Oval 21"/>
          <p:cNvSpPr/>
          <p:nvPr/>
        </p:nvSpPr>
        <p:spPr>
          <a:xfrm>
            <a:off x="6163056" y="213969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781" y="2264421"/>
            <a:ext cx="317479" cy="3174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03720" y="21579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45059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F2A44"/>
                </a:solidFill>
                <a:latin typeface="Segoe UI"/>
              </a:rPr>
              <a:t>Live Demo — Every Module</a:t>
            </a:r>
          </a:p>
        </p:txBody>
      </p:sp>
      <p:sp>
        <p:nvSpPr>
          <p:cNvPr id="26" name="Oval 25"/>
          <p:cNvSpPr/>
          <p:nvPr/>
        </p:nvSpPr>
        <p:spPr>
          <a:xfrm>
            <a:off x="6163056" y="309981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7781" y="3224541"/>
            <a:ext cx="317479" cy="3174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03720" y="311810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41071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F2A44"/>
                </a:solidFill>
                <a:latin typeface="Segoe UI"/>
              </a:rPr>
              <a:t>Security &amp; Trust</a:t>
            </a:r>
          </a:p>
        </p:txBody>
      </p:sp>
      <p:sp>
        <p:nvSpPr>
          <p:cNvPr id="30" name="Oval 29"/>
          <p:cNvSpPr/>
          <p:nvPr/>
        </p:nvSpPr>
        <p:spPr>
          <a:xfrm>
            <a:off x="6163056" y="405993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7781" y="4184661"/>
            <a:ext cx="317479" cy="3174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03720" y="407822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37083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F2A44"/>
                </a:solidFill>
                <a:latin typeface="Segoe UI"/>
              </a:rPr>
              <a:t>Getting Started</a:t>
            </a:r>
          </a:p>
        </p:txBody>
      </p:sp>
      <p:sp>
        <p:nvSpPr>
          <p:cNvPr id="34" name="Oval 33"/>
          <p:cNvSpPr/>
          <p:nvPr/>
        </p:nvSpPr>
        <p:spPr>
          <a:xfrm>
            <a:off x="6163056" y="502005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7781" y="5144781"/>
            <a:ext cx="317479" cy="31747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3720" y="503834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33095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F2A44"/>
                </a:solidFill>
                <a:latin typeface="Segoe UI"/>
              </a:rPr>
              <a:t>Let's Talk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ABOUT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We Build Technology for Schools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D2939"/>
                </a:solidFill>
                <a:latin typeface="Segoe UI"/>
              </a:rPr>
              <a:t>EduNexusTech is focused on one mission: giving schools a single, modern platform to run every part of their operation — so educators can spend less time on admin and more time teaching.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" y="3300984"/>
            <a:ext cx="3527450" cy="25146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352745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346557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21" y="3590301"/>
            <a:ext cx="317479" cy="3174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4142232"/>
            <a:ext cx="312511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F2A44"/>
                </a:solidFill>
                <a:latin typeface="Segoe UI"/>
              </a:rPr>
              <a:t>Purpose-Built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544568"/>
            <a:ext cx="312511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Designed specifically for K-12 schools and education groups — not a generic business tool bolted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3270" y="3300984"/>
            <a:ext cx="3527450" cy="25146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2122" y="3246120"/>
            <a:ext cx="352745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1578" y="346557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park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303" y="3590301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1578" y="4142232"/>
            <a:ext cx="312511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F2A44"/>
                </a:solidFill>
                <a:latin typeface="Segoe UI"/>
              </a:rPr>
              <a:t>Modern &amp; AI-Ready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4544568"/>
            <a:ext cx="312511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Built on a modern platform with an integrated AI assistant, not a legacy system playing catch-up.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752" y="3300984"/>
            <a:ext cx="3527450" cy="25146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15604" y="3246120"/>
            <a:ext cx="352745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35060" y="346557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785" y="3590301"/>
            <a:ext cx="317479" cy="3174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35060" y="4142232"/>
            <a:ext cx="312511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F2A44"/>
                </a:solidFill>
                <a:latin typeface="Segoe UI"/>
              </a:rPr>
              <a:t>Security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5060" y="4544568"/>
            <a:ext cx="312511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Role-based access, full audit trails, and data protection built in from day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4B5B"/>
                </a:solidFill>
                <a:latin typeface="Segoe U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Sound Familiar?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217420"/>
            <a:ext cx="548640" cy="548640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9" y="2338121"/>
            <a:ext cx="307238" cy="307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2112264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2939"/>
                </a:solidFill>
                <a:latin typeface="Segoe UI"/>
              </a:rPr>
              <a:t>Admissions tracked across scattered spreadsheets and paper 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3451860"/>
            <a:ext cx="548640" cy="548640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3572561"/>
            <a:ext cx="307238" cy="3072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3346704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2939"/>
                </a:solidFill>
                <a:latin typeface="Segoe UI"/>
              </a:rPr>
              <a:t>Attendance registers filled by hand, every single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86300"/>
            <a:ext cx="548640" cy="548640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4807001"/>
            <a:ext cx="307238" cy="3072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4581144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2939"/>
                </a:solidFill>
                <a:latin typeface="Segoe UI"/>
              </a:rPr>
              <a:t>Fee collection spread across cash books, SMS reminders, and phone calls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2217420"/>
            <a:ext cx="548640" cy="548640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229" y="2338121"/>
            <a:ext cx="307238" cy="3072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23760" y="2112264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2939"/>
                </a:solidFill>
                <a:latin typeface="Segoe UI"/>
              </a:rPr>
              <a:t>Parents left guessing — no single channel for updates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00400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10528" y="3451860"/>
            <a:ext cx="548640" cy="548640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229" y="3572561"/>
            <a:ext cx="307238" cy="3072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3346704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2939"/>
                </a:solidFill>
                <a:latin typeface="Segoe UI"/>
              </a:rPr>
              <a:t>School leadership flying blind with no real-time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34840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10528" y="4686300"/>
            <a:ext cx="548640" cy="548640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eo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229" y="4807001"/>
            <a:ext cx="307238" cy="30723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23760" y="4581144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2939"/>
                </a:solidFill>
                <a:latin typeface="Segoe UI"/>
              </a:rPr>
              <a:t>Student records scattered across disconnected systems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2860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Segoe UI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6400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One Platform.
Every School Need.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D7E0EE"/>
                </a:solidFill>
                <a:latin typeface="Segoe UI"/>
              </a:rPr>
              <a:t>Admissions, academics, exams, fees, communication, and AI — unified in one secure platform, so nothing falls through the cracks.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WHY SCHOOLS CHOOSE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Built Around Your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348" y="1975104"/>
            <a:ext cx="2079894" cy="41148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07989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6656" y="213969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81" y="2264421"/>
            <a:ext cx="317479" cy="317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" y="2816352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Save Staff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218688"/>
            <a:ext cx="167755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Segoe UI"/>
              </a:rPr>
              <a:t>Automate the repetitive admin work — admissions, invoicing, report cards — so your team focuses on students.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7698" y="1975104"/>
            <a:ext cx="2079894" cy="41148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56550" y="1920240"/>
            <a:ext cx="207989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6006" y="213969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731" y="2264421"/>
            <a:ext cx="317479" cy="3174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76006" y="2816352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Increase Enrollment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6006" y="3218688"/>
            <a:ext cx="167755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Segoe UI"/>
              </a:rPr>
              <a:t>A faster, friendlier admissions journey converts more enquiries into confirmed admissions.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7048" y="1975104"/>
            <a:ext cx="2079894" cy="41148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5900" y="1920240"/>
            <a:ext cx="207989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75356" y="213969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81" y="2264421"/>
            <a:ext cx="317479" cy="3174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75356" y="2816352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Delight Parents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5356" y="3218688"/>
            <a:ext cx="167755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Segoe UI"/>
              </a:rPr>
              <a:t>Timely, multi-channel updates build the trust that keeps families engaged and loyal.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6398" y="1975104"/>
            <a:ext cx="2079894" cy="41148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5250" y="1920240"/>
            <a:ext cx="207989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74706" y="213969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431" y="2264421"/>
            <a:ext cx="317479" cy="3174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74706" y="2816352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Decide with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4706" y="3218688"/>
            <a:ext cx="167755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Segoe UI"/>
              </a:rPr>
              <a:t>Real-time dashboards give leadership visibility the moment they need it — not at term-end.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5748" y="1975104"/>
            <a:ext cx="2079894" cy="41148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54600" y="1920240"/>
            <a:ext cx="207989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74056" y="2139696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8781" y="2264421"/>
            <a:ext cx="317479" cy="3174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74056" y="2816352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Stay Secure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4056" y="3218688"/>
            <a:ext cx="167755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Segoe UI"/>
              </a:rPr>
              <a:t>Role-based access and full audit trails protect student and financial data at every level.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Depth You Can Rely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68883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735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10131" y="2281428"/>
            <a:ext cx="777240" cy="77724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24" y="2452421"/>
            <a:ext cx="435254" cy="4352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35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3-Tier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615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Architecture built for single schools or entire education groups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66947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5799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8195" y="2281428"/>
            <a:ext cx="777240" cy="7772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188" y="2452421"/>
            <a:ext cx="435254" cy="4352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25799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8679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Core suites covering the full school lifecycle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5011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3863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06259" y="2281428"/>
            <a:ext cx="777240" cy="777240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252" y="2452421"/>
            <a:ext cx="435254" cy="4352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3863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200+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Screens — nothing bolted on, everything built 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3075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1927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04323" y="2281428"/>
            <a:ext cx="777240" cy="777240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316" y="2452421"/>
            <a:ext cx="435254" cy="43525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21927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4807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Ways to reach parents: Email, SMS, WhatsApp, Push, In-App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 i="1">
                <a:solidFill>
                  <a:srgbClr val="1D2939"/>
                </a:solidFill>
                <a:latin typeface="Segoe UI"/>
              </a:rPr>
              <a:t>Everything you see today runs on the same platform — no plug-ins, no separate logins, no data stuck in silos.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Segoe UI"/>
              </a:rPr>
              <a:t>LIVE DEMO — ADMISSIONS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2A44"/>
                </a:solidFill>
                <a:latin typeface="Segoe UI"/>
              </a:rPr>
              <a:t>Turn Every Enquiry Into an Enrolled 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2084832"/>
            <a:ext cx="6309360" cy="39433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6309360" cy="39433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232904" y="2203704"/>
            <a:ext cx="420624" cy="42062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442" y="2296242"/>
            <a:ext cx="235549" cy="235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54112" y="222199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Track every lead from first enquiry to confirmed admission — nothing falls through the cracks</a:t>
            </a:r>
          </a:p>
        </p:txBody>
      </p:sp>
      <p:sp>
        <p:nvSpPr>
          <p:cNvPr id="11" name="Oval 10"/>
          <p:cNvSpPr/>
          <p:nvPr/>
        </p:nvSpPr>
        <p:spPr>
          <a:xfrm>
            <a:off x="7232904" y="3209544"/>
            <a:ext cx="420624" cy="42062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442" y="3302082"/>
            <a:ext cx="235549" cy="235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2" y="322783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A visual pipeline your team can manage in minutes, not spreadsheets</a:t>
            </a:r>
          </a:p>
        </p:txBody>
      </p:sp>
      <p:sp>
        <p:nvSpPr>
          <p:cNvPr id="14" name="Oval 13"/>
          <p:cNvSpPr/>
          <p:nvPr/>
        </p:nvSpPr>
        <p:spPr>
          <a:xfrm>
            <a:off x="7232904" y="4215384"/>
            <a:ext cx="420624" cy="42062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42" y="4307922"/>
            <a:ext cx="235549" cy="235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54112" y="423367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Online application forms parents can fill out from their phone, anytime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5CFC"/>
                </a:solidFill>
                <a:latin typeface="Segoe UI"/>
              </a:rPr>
              <a:t>LIVE DEMO — ACADEMICS &amp;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2A44"/>
                </a:solidFill>
                <a:latin typeface="Segoe UI"/>
              </a:rPr>
              <a:t>Timetables &amp; Attendance, Without the Headache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34279" y="2084832"/>
            <a:ext cx="6309360" cy="39433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acade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415" y="2011680"/>
            <a:ext cx="6309360" cy="39433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12064" y="2203704"/>
            <a:ext cx="420624" cy="420624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2" y="2296242"/>
            <a:ext cx="235549" cy="235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3272" y="222199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Build conflict-free class schedules in a fraction of the time</a:t>
            </a:r>
          </a:p>
        </p:txBody>
      </p:sp>
      <p:sp>
        <p:nvSpPr>
          <p:cNvPr id="11" name="Oval 10"/>
          <p:cNvSpPr/>
          <p:nvPr/>
        </p:nvSpPr>
        <p:spPr>
          <a:xfrm>
            <a:off x="512064" y="3209544"/>
            <a:ext cx="420624" cy="420624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2" y="3302082"/>
            <a:ext cx="235549" cy="235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322783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Mark attendance for students, teachers, and staff from one screen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" y="4215384"/>
            <a:ext cx="420624" cy="420624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2" y="4307922"/>
            <a:ext cx="235549" cy="235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3272" y="423367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Real-time visibility into attendance trends for school leadership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4B5B"/>
                </a:solidFill>
                <a:latin typeface="Segoe UI"/>
              </a:rPr>
              <a:t>LIVE DEMO — EXAMINATIONS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2A44"/>
                </a:solidFill>
                <a:latin typeface="Segoe UI"/>
              </a:rPr>
              <a:t>From Exam to Report Card, Fully Automated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2084832"/>
            <a:ext cx="6309360" cy="39433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6309360" cy="39433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232904" y="2203704"/>
            <a:ext cx="420624" cy="420624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442" y="2296242"/>
            <a:ext cx="235549" cy="235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54112" y="222199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Enter marks once — results, analytics, and report cards generate themselves</a:t>
            </a:r>
          </a:p>
        </p:txBody>
      </p:sp>
      <p:sp>
        <p:nvSpPr>
          <p:cNvPr id="11" name="Oval 10"/>
          <p:cNvSpPr/>
          <p:nvPr/>
        </p:nvSpPr>
        <p:spPr>
          <a:xfrm>
            <a:off x="7232904" y="3209544"/>
            <a:ext cx="420624" cy="420624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442" y="3302082"/>
            <a:ext cx="235549" cy="235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2" y="322783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Beautifully designed, QR-verifiable report cards and certificates</a:t>
            </a:r>
          </a:p>
        </p:txBody>
      </p:sp>
      <p:sp>
        <p:nvSpPr>
          <p:cNvPr id="14" name="Oval 13"/>
          <p:cNvSpPr/>
          <p:nvPr/>
        </p:nvSpPr>
        <p:spPr>
          <a:xfrm>
            <a:off x="7232904" y="4215384"/>
            <a:ext cx="420624" cy="420624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42" y="4307922"/>
            <a:ext cx="235549" cy="235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54112" y="423367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Give parents instant, transparent visibility into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A95C"/>
                </a:solidFill>
                <a:latin typeface="Segoe UI"/>
              </a:rPr>
              <a:t>LIVE DEMO — FEES &amp;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2A44"/>
                </a:solidFill>
                <a:latin typeface="Segoe UI"/>
              </a:rPr>
              <a:t>Fee Collection That Runs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34279" y="2084832"/>
            <a:ext cx="6309360" cy="39433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415" y="2011680"/>
            <a:ext cx="6309360" cy="39433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12064" y="2203704"/>
            <a:ext cx="420624" cy="420624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2" y="2296242"/>
            <a:ext cx="235549" cy="235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3272" y="222199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Automatic invoicing, online payments, and instant digital receipts</a:t>
            </a:r>
          </a:p>
        </p:txBody>
      </p:sp>
      <p:sp>
        <p:nvSpPr>
          <p:cNvPr id="11" name="Oval 10"/>
          <p:cNvSpPr/>
          <p:nvPr/>
        </p:nvSpPr>
        <p:spPr>
          <a:xfrm>
            <a:off x="512064" y="3209544"/>
            <a:ext cx="420624" cy="420624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2" y="3302082"/>
            <a:ext cx="235549" cy="235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322783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Real-time visibility into collections, dues, and defaulters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" y="4215384"/>
            <a:ext cx="420624" cy="420624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2" y="4307922"/>
            <a:ext cx="235549" cy="235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3272" y="423367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Fewer manual errors, faster reconciliation, happier accounts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4793"/>
                </a:solidFill>
                <a:latin typeface="Segoe UI"/>
              </a:rPr>
              <a:t>LIVE DEMO —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2A44"/>
                </a:solidFill>
                <a:latin typeface="Segoe UI"/>
              </a:rPr>
              <a:t>Never Miss Reaching a Parent Again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2084832"/>
            <a:ext cx="6309360" cy="39433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6309360" cy="39433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232904" y="2203704"/>
            <a:ext cx="420624" cy="420624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442" y="2296242"/>
            <a:ext cx="235549" cy="235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54112" y="222199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Reach every parent by Email, SMS, WhatsApp, or push — from one place</a:t>
            </a:r>
          </a:p>
        </p:txBody>
      </p:sp>
      <p:sp>
        <p:nvSpPr>
          <p:cNvPr id="11" name="Oval 10"/>
          <p:cNvSpPr/>
          <p:nvPr/>
        </p:nvSpPr>
        <p:spPr>
          <a:xfrm>
            <a:off x="7232904" y="3209544"/>
            <a:ext cx="420624" cy="420624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442" y="3302082"/>
            <a:ext cx="235549" cy="235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2" y="322783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Announcements, circulars, and fee reminders sent in seconds</a:t>
            </a:r>
          </a:p>
        </p:txBody>
      </p:sp>
      <p:sp>
        <p:nvSpPr>
          <p:cNvPr id="14" name="Oval 13"/>
          <p:cNvSpPr/>
          <p:nvPr/>
        </p:nvSpPr>
        <p:spPr>
          <a:xfrm>
            <a:off x="7232904" y="4215384"/>
            <a:ext cx="420624" cy="420624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42" y="4307922"/>
            <a:ext cx="235549" cy="235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54112" y="423367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Build trust with parents through consistent, timely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357E8"/>
                </a:solidFill>
                <a:latin typeface="Segoe UI"/>
              </a:rPr>
              <a:t>LIVE DEMO —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2A44"/>
                </a:solidFill>
                <a:latin typeface="Segoe UI"/>
              </a:rPr>
              <a:t>Your School's Always-On Digital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34279" y="2084832"/>
            <a:ext cx="6309360" cy="39433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415" y="2011680"/>
            <a:ext cx="6309360" cy="39433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12064" y="2203704"/>
            <a:ext cx="420624" cy="420624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ark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2" y="2296242"/>
            <a:ext cx="235549" cy="235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3272" y="222199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Instant answers for staff on roles, setup, and daily tasks</a:t>
            </a:r>
          </a:p>
        </p:txBody>
      </p:sp>
      <p:sp>
        <p:nvSpPr>
          <p:cNvPr id="11" name="Oval 10"/>
          <p:cNvSpPr/>
          <p:nvPr/>
        </p:nvSpPr>
        <p:spPr>
          <a:xfrm>
            <a:off x="512064" y="3209544"/>
            <a:ext cx="420624" cy="420624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2" y="3302082"/>
            <a:ext cx="235549" cy="235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322783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Automations that handle reminders and routine follow-ups for you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" y="4215384"/>
            <a:ext cx="420624" cy="420624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2" y="4307922"/>
            <a:ext cx="235549" cy="235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3272" y="4233672"/>
            <a:ext cx="393466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Less time on admin, more time on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4647D"/>
                </a:solidFill>
                <a:latin typeface="Segoe UI"/>
              </a:rPr>
              <a:t>SECURITY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Your Data, Protected at Every Level</a:t>
            </a:r>
          </a:p>
        </p:txBody>
      </p:sp>
      <p:sp>
        <p:nvSpPr>
          <p:cNvPr id="6" name="Oval 5"/>
          <p:cNvSpPr/>
          <p:nvPr/>
        </p:nvSpPr>
        <p:spPr>
          <a:xfrm>
            <a:off x="740664" y="2112264"/>
            <a:ext cx="420624" cy="420624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02" y="2204802"/>
            <a:ext cx="235549" cy="2355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2130552"/>
            <a:ext cx="971092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D2939"/>
                </a:solidFill>
                <a:latin typeface="Segoe UI"/>
              </a:rPr>
              <a:t>Role-based access control ensures every user only sees what they're meant to</a:t>
            </a:r>
          </a:p>
        </p:txBody>
      </p:sp>
      <p:sp>
        <p:nvSpPr>
          <p:cNvPr id="9" name="Oval 8"/>
          <p:cNvSpPr/>
          <p:nvPr/>
        </p:nvSpPr>
        <p:spPr>
          <a:xfrm>
            <a:off x="740664" y="3072384"/>
            <a:ext cx="420624" cy="420624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2" y="3164922"/>
            <a:ext cx="235549" cy="2355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3090672"/>
            <a:ext cx="971092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D2939"/>
                </a:solidFill>
                <a:latin typeface="Segoe UI"/>
              </a:rPr>
              <a:t>A full audit trail records who changed what, when, and from where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4032504"/>
            <a:ext cx="420624" cy="420624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2" y="4125042"/>
            <a:ext cx="235549" cy="2355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4050792"/>
            <a:ext cx="971092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D2939"/>
                </a:solidFill>
                <a:latin typeface="Segoe UI"/>
              </a:rPr>
              <a:t>Data is encrypted and regularly backed up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" y="4992624"/>
            <a:ext cx="420624" cy="420624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02" y="5085162"/>
            <a:ext cx="235549" cy="2355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61872" y="5010912"/>
            <a:ext cx="971092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D2939"/>
                </a:solidFill>
                <a:latin typeface="Segoe UI"/>
              </a:rPr>
              <a:t>QR-verifiable certificates and report cards prevent forgery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BUILT TO SCALE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One School Today, a Whole Group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D2939"/>
                </a:solidFill>
                <a:latin typeface="Segoe UI"/>
              </a:rPr>
              <a:t>EduNexus is architected as Platform → Organization → School, so whether you run one campus or a growing group of schools, the same platform scales with you — with each school keeping its own structure, staff, and settings.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472"/>
                </a:solidFill>
                <a:latin typeface="Segoe UI"/>
              </a:rPr>
              <a:t>And we keep building — transport management, payroll, and deeper analytics are already on our roadmap.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657600"/>
          <a:ext cx="1110996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4980"/>
                <a:gridCol w="5554980"/>
              </a:tblGrid>
              <a:tr h="53035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Segoe UI"/>
                        </a:rPr>
                        <a:t>Without EduNexus</a:t>
                      </a:r>
                    </a:p>
                  </a:txBody>
                  <a:tcPr anchor="ctr" marL="177800">
                    <a:solidFill>
                      <a:srgbClr val="5464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Segoe UI"/>
                        </a:rPr>
                        <a:t>With EduNexus</a:t>
                      </a:r>
                    </a:p>
                  </a:txBody>
                  <a:tcPr anchor="ctr" marL="177800">
                    <a:solidFill>
                      <a:srgbClr val="2F6FE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472"/>
                          </a:solidFill>
                          <a:latin typeface="Segoe UI"/>
                        </a:rPr>
                        <a:t>✗  Multiple disconnected tools</a:t>
                      </a:r>
                    </a:p>
                  </a:txBody>
                  <a:tcPr anchor="ctr" marL="177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939"/>
                          </a:solidFill>
                          <a:latin typeface="Segoe UI"/>
                        </a:rPr>
                        <a:t>✓  One unified platform</a:t>
                      </a:r>
                    </a:p>
                  </a:txBody>
                  <a:tcPr anchor="ctr" marL="1778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472"/>
                          </a:solidFill>
                          <a:latin typeface="Segoe UI"/>
                        </a:rPr>
                        <a:t>✗  Manual data entry &amp; errors</a:t>
                      </a:r>
                    </a:p>
                  </a:txBody>
                  <a:tcPr anchor="ctr" marL="1778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939"/>
                          </a:solidFill>
                          <a:latin typeface="Segoe UI"/>
                        </a:rPr>
                        <a:t>✓  Automated workflows</a:t>
                      </a:r>
                    </a:p>
                  </a:txBody>
                  <a:tcPr anchor="ctr" marL="177800"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472"/>
                          </a:solidFill>
                          <a:latin typeface="Segoe UI"/>
                        </a:rPr>
                        <a:t>✗  Delayed, one-way communication</a:t>
                      </a:r>
                    </a:p>
                  </a:txBody>
                  <a:tcPr anchor="ctr" marL="177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939"/>
                          </a:solidFill>
                          <a:latin typeface="Segoe UI"/>
                        </a:rPr>
                        <a:t>✓  Instant, multi-channel outreach</a:t>
                      </a:r>
                    </a:p>
                  </a:txBody>
                  <a:tcPr anchor="ctr" marL="1778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472"/>
                          </a:solidFill>
                          <a:latin typeface="Segoe UI"/>
                        </a:rPr>
                        <a:t>✗  Limited visibility for leadership</a:t>
                      </a:r>
                    </a:p>
                  </a:txBody>
                  <a:tcPr anchor="ctr" marL="1778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939"/>
                          </a:solidFill>
                          <a:latin typeface="Segoe UI"/>
                        </a:rPr>
                        <a:t>✓  Real-time dashboards</a:t>
                      </a:r>
                    </a:p>
                  </a:txBody>
                  <a:tcPr anchor="ctr" marL="17780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From Decision to Go-Live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749039"/>
            <a:ext cx="10180015" cy="0"/>
          </a:xfrm>
          <a:prstGeom prst="line">
            <a:avLst/>
          </a:prstGeom>
          <a:ln w="381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05840" y="297179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59536" y="3602735"/>
            <a:ext cx="292608" cy="292608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648455"/>
            <a:ext cx="2926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54380" y="2263139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3" y="2373782"/>
            <a:ext cx="281635" cy="2816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45720" y="288035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Discovery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5720" y="3246119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Understand your school's specific needs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50843" y="374903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04539" y="3602735"/>
            <a:ext cx="292608" cy="292608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4539" y="3648455"/>
            <a:ext cx="2926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299383" y="4732019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026" y="4842662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499283" y="413308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Setup &amp; 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9283" y="4498847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We configure the platform and migrate your data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95846" y="297179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949542" y="3602735"/>
            <a:ext cx="292608" cy="292608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9542" y="3648455"/>
            <a:ext cx="2926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5844386" y="2263139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29" y="2373782"/>
            <a:ext cx="281635" cy="28163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44286" y="288035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Team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4286" y="3246119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Hands-on onboarding for your staff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0849" y="374903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494545" y="3602735"/>
            <a:ext cx="292608" cy="292608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4545" y="3648455"/>
            <a:ext cx="2926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8389389" y="4732019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032" y="4842662"/>
            <a:ext cx="281635" cy="28163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89289" y="413308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Go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289" y="4498847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Launch with our team supporting you closely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1185852" y="297179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039548" y="3602735"/>
            <a:ext cx="292608" cy="292608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39548" y="3648455"/>
            <a:ext cx="2926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10934392" y="2263139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5035" y="2373782"/>
            <a:ext cx="281635" cy="28163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134292" y="288035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Ongoing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2" y="3246119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We're with you long after launch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Ready to See EduNexus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B020"/>
                </a:solidFill>
                <a:latin typeface="Segoe UI"/>
              </a:rPr>
              <a:t>in Your School?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D7E0EE"/>
                </a:solidFill>
                <a:latin typeface="Segoe UI"/>
              </a:rPr>
              <a:t>Let's schedule a personalized walkthrough for your team.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85616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886200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3849624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EduNexusTech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52544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453128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17320" y="4416552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edunexuxtech@gmail.com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919472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020056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7320" y="498348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+91 99014 14072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486400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586984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17320" y="555040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https://edunexustech.com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38328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7889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57600"/>
            <a:ext cx="731520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We look forward to partnering with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EduNexusTech  •  School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
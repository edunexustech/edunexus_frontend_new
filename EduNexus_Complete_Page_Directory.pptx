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1732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10312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EduNexus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999232"/>
            <a:ext cx="914400" cy="6400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0EE"/>
                </a:solidFill>
                <a:latin typeface="Segoe UI"/>
              </a:rPr>
              <a:t>Complete Page &amp; Menu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FA3C0"/>
                </a:solidFill>
                <a:latin typeface="Segoe UI"/>
              </a:rPr>
              <a:t>Every menu. Every page. No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34840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207 pages  •  13 menus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82A3"/>
                </a:solidFill>
                <a:latin typeface="Segoe UI"/>
              </a:rPr>
              <a:t>Prepared July 2026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DIRECTORY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Menu-by-Menu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207 pages across 13 menus — nothing left out</a:t>
            </a:r>
          </a:p>
        </p:txBody>
      </p:sp>
      <p:sp>
        <p:nvSpPr>
          <p:cNvPr id="7" name="Oval 6"/>
          <p:cNvSpPr/>
          <p:nvPr/>
        </p:nvSpPr>
        <p:spPr>
          <a:xfrm>
            <a:off x="585216" y="1984248"/>
            <a:ext cx="475488" cy="47548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4" y="2088856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0432" y="19751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2128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Dashboard &amp;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10312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6 pgs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2624328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4" y="2728936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432" y="26151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8529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74320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20 pgs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3264408"/>
            <a:ext cx="475488" cy="475488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4" y="3369016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70432" y="325526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49300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38328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21 pgs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" y="3904488"/>
            <a:ext cx="475488" cy="475488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4" y="4009096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0432" y="389534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1330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02336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26 pgs</a:t>
            </a:r>
          </a:p>
        </p:txBody>
      </p:sp>
      <p:sp>
        <p:nvSpPr>
          <p:cNvPr id="27" name="Oval 26"/>
          <p:cNvSpPr/>
          <p:nvPr/>
        </p:nvSpPr>
        <p:spPr>
          <a:xfrm>
            <a:off x="585216" y="4544568"/>
            <a:ext cx="475488" cy="475488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4" y="4649176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70432" y="453542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7731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466344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16 pgs</a:t>
            </a:r>
          </a:p>
        </p:txBody>
      </p:sp>
      <p:sp>
        <p:nvSpPr>
          <p:cNvPr id="32" name="Oval 31"/>
          <p:cNvSpPr/>
          <p:nvPr/>
        </p:nvSpPr>
        <p:spPr>
          <a:xfrm>
            <a:off x="585216" y="5184648"/>
            <a:ext cx="475488" cy="475488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4" y="5289256"/>
            <a:ext cx="266273" cy="26627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70432" y="51755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54132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530352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4 pgs</a:t>
            </a:r>
          </a:p>
        </p:txBody>
      </p:sp>
      <p:sp>
        <p:nvSpPr>
          <p:cNvPr id="37" name="Oval 36"/>
          <p:cNvSpPr/>
          <p:nvPr/>
        </p:nvSpPr>
        <p:spPr>
          <a:xfrm>
            <a:off x="585216" y="5824728"/>
            <a:ext cx="475488" cy="475488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4" y="5929336"/>
            <a:ext cx="266273" cy="26627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70432" y="58155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60533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594360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10 pgs</a:t>
            </a:r>
          </a:p>
        </p:txBody>
      </p:sp>
      <p:sp>
        <p:nvSpPr>
          <p:cNvPr id="42" name="Oval 41"/>
          <p:cNvSpPr/>
          <p:nvPr/>
        </p:nvSpPr>
        <p:spPr>
          <a:xfrm>
            <a:off x="6208776" y="1984248"/>
            <a:ext cx="475488" cy="475488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384" y="2088856"/>
            <a:ext cx="266273" cy="26627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93992" y="19751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3992" y="22128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AI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210312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3 pgs</a:t>
            </a:r>
          </a:p>
        </p:txBody>
      </p:sp>
      <p:sp>
        <p:nvSpPr>
          <p:cNvPr id="47" name="Oval 46"/>
          <p:cNvSpPr/>
          <p:nvPr/>
        </p:nvSpPr>
        <p:spPr>
          <a:xfrm>
            <a:off x="6208776" y="2624328"/>
            <a:ext cx="475488" cy="475488"/>
          </a:xfrm>
          <a:prstGeom prst="ellipse">
            <a:avLst/>
          </a:prstGeom>
          <a:solidFill>
            <a:srgbClr val="149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384" y="2728936"/>
            <a:ext cx="266273" cy="26627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93992" y="26151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93992" y="28529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Platform &amp; Tenant Administration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274320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21 pgs</a:t>
            </a:r>
          </a:p>
        </p:txBody>
      </p:sp>
      <p:sp>
        <p:nvSpPr>
          <p:cNvPr id="52" name="Oval 51"/>
          <p:cNvSpPr/>
          <p:nvPr/>
        </p:nvSpPr>
        <p:spPr>
          <a:xfrm>
            <a:off x="6208776" y="3264408"/>
            <a:ext cx="475488" cy="475488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384" y="3369016"/>
            <a:ext cx="266273" cy="26627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93992" y="325526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3992" y="349300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Access Control &amp; Navigation Config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338328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17 pgs</a:t>
            </a:r>
          </a:p>
        </p:txBody>
      </p:sp>
      <p:sp>
        <p:nvSpPr>
          <p:cNvPr id="57" name="Oval 56"/>
          <p:cNvSpPr/>
          <p:nvPr/>
        </p:nvSpPr>
        <p:spPr>
          <a:xfrm>
            <a:off x="6208776" y="3904488"/>
            <a:ext cx="475488" cy="475488"/>
          </a:xfrm>
          <a:prstGeom prst="ellipse">
            <a:avLst/>
          </a:prstGeom>
          <a:solidFill>
            <a:srgbClr val="9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384" y="4009096"/>
            <a:ext cx="266273" cy="26627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93992" y="389534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93992" y="41330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Master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402336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35 pgs</a:t>
            </a:r>
          </a:p>
        </p:txBody>
      </p:sp>
      <p:sp>
        <p:nvSpPr>
          <p:cNvPr id="62" name="Oval 61"/>
          <p:cNvSpPr/>
          <p:nvPr/>
        </p:nvSpPr>
        <p:spPr>
          <a:xfrm>
            <a:off x="6208776" y="4544568"/>
            <a:ext cx="475488" cy="475488"/>
          </a:xfrm>
          <a:prstGeom prst="ellipse">
            <a:avLst/>
          </a:prstGeom>
          <a:solidFill>
            <a:srgbClr val="5A3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384" y="4649176"/>
            <a:ext cx="266273" cy="26627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793992" y="453542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93992" y="47731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Configuration &amp; Compliance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40" y="466344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25 pgs</a:t>
            </a:r>
          </a:p>
        </p:txBody>
      </p:sp>
      <p:sp>
        <p:nvSpPr>
          <p:cNvPr id="67" name="Oval 66"/>
          <p:cNvSpPr/>
          <p:nvPr/>
        </p:nvSpPr>
        <p:spPr>
          <a:xfrm>
            <a:off x="6208776" y="5184648"/>
            <a:ext cx="475488" cy="475488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384" y="5289256"/>
            <a:ext cx="266273" cy="26627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793992" y="51755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93992" y="54132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Public Website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530352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Segoe UI"/>
              </a:rPr>
              <a:t>3 pgs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0F2A44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Dashboard &amp;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The landing dashboard and every user's personal account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6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A44"/>
                </a:solidFill>
                <a:latin typeface="Segoe UI"/>
              </a:rPr>
              <a:t>DASHBOARD &amp;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6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6335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0F2A44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/dashboard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A44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Login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/login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96BE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Forgot Password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/forgot-password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96BE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Change Password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/change-password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My Profile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/profile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Notifications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/notifications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Enquiry capture, pipeline, applications, conversion, and the form 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20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ED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1 of 2  —  20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2F6FED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Admissions Overview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Academic Year 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Enquiries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/admissions/enquiries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Pipeline (Kanban)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/admissions/pipeline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04793"/>
                          </a:solidFill>
                          <a:latin typeface="Segoe UI"/>
                        </a:rPr>
                        <a:t>Board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Follow-ups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/admissions/follow-ups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Internal Applications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/admissions/applications/internal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External Applications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/admissions/applications/external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Confirmed Applications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/admissions/confirmed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Conversion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/admissions/conversion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4B5B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New Enquiry / Lead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/admissions/leads/new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Enquiry / Lead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/admissions/leads/:id/edit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New Application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/admissions/applications/new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Application 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/admissions/applications/:id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ED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2 of 2  —  20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554355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2F6FED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Application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/admissions/applications/:id/edit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Form Builder — 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/form-builder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Form Builder — New 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/form-builder/new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Form Builder — Designer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/form-builder/:id/edit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357E8"/>
                          </a:solidFill>
                          <a:latin typeface="Segoe UI"/>
                        </a:rPr>
                        <a:t>Builder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Form Builder — Preview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/form-builder/:id/preview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47D"/>
                          </a:solidFill>
                          <a:latin typeface="Segoe UI"/>
                        </a:rPr>
                        <a:t>Preview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Form Builder — Responses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/form-builder/:id/responses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357E8"/>
                          </a:solidFill>
                          <a:latin typeface="Segoe UI"/>
                        </a:rPr>
                        <a:t>Analytics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Public Form (Fill)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/f/:slug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96BE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0EA99E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Students, teachers, parents &amp; guardians, and HRMS staff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21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99E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1 of 2  —  21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0EA9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0EA9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0EA99E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Students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/students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Students Roster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/students/roster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Student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/students/new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Student Detail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/students/:id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Student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/students/:id/edit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Teachers 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/teachers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Teachers Roster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/teachers/roster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Teacher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/teachers/new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Teacher 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/teachers/:id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Teacher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/teachers/:id/edit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Parents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/parents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Parents Roster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/parents/roster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Households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/parents/households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99E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2 of 2  —  21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492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0EA9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0EA9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0EA99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Parent / Guardian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/parents/new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Parent Detail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/parents/:id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Parent / Guardian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/parents/:id/edit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Staff Hub (HRMS)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/staff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Staff Roster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/staff/roster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Staff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/staff/new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Staff 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/staff/:id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Staff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/staff/:id/edit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7C5CFC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acade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Academic foundation, MDM, timetable, and attendance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26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5CFC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1 of 2  —  26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7C5CFC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Academic Foundation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Academic Years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/academics/academic-years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Terms / Semesters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/academics/terms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Curriculum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/academics/curriculums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Curriculum Subjects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/academics/curriculum-subjects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Elective Subjects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/academics/elective-subjects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Active / Inactive Classes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/academics/class-sections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Class Teachers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/academics/class-teachers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Class Subjects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/academics/class-section-subjects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Rooms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/academics/rooms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Academic Calendar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/academics/calendar-events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Working Days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/academics/working-days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Holiday Calendar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/academics/holidays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5CFC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2 of 2  —  26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7C5CFC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Class Timings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/academics/class-timings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Periods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/academics/periods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Grading Schemes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/academics/grading-schemes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Assessment Categories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/academics/assessment-categories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Exam Types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/academics/exam-types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Academic Policies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/academics/policies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MDM Catalog &amp; Adopt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/mdm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Timetable 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/timetable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Timetable Builder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/timetable/builder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357E8"/>
                          </a:solidFill>
                          <a:latin typeface="Segoe UI"/>
                        </a:rPr>
                        <a:t>Builder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Substitutions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/timetable/substitutions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Attendance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/attendance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Mark Attendance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/attendance/mark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Attendance Reports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/attendance/reports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4B5B"/>
                          </a:solidFill>
                          <a:latin typeface="Segoe UI"/>
                        </a:rPr>
                        <a:t>Report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E84B5B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te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LMS, examinations, documents &amp; report cards, and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16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4B5B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1 of 2  —  16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E84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E84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E84B5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LMS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/lms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Courses (Course Studio)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/lms/courses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Assignments &amp; Homework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/lms/assignments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Lesson Plans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/lms/lesson-plans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Quizzes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/lms/quizzes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Examinations 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/examinations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Marks Entry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/examinations/marks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Results &amp; Publishing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/examinations/results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4B5B"/>
                          </a:solidFill>
                          <a:latin typeface="Segoe UI"/>
                        </a:rPr>
                        <a:t>Report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Documents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/documents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Template Designer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/documents/designer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357E8"/>
                          </a:solidFill>
                          <a:latin typeface="Segoe UI"/>
                        </a:rPr>
                        <a:t>Builder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Generate Report Cards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/documents/generate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4B5B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Certificates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/documents/certificates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QR Verify (Public)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/documents/verify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96BE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4B5B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2 of 2  —  16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110871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E84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E84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E84B5B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Library Catalog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/library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Library Book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/library/new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Library Book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/library/:id/edit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1FA95C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Fee dashboard, collection, assignment, and defaulter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4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A95C"/>
                </a:solidFill>
                <a:latin typeface="Segoe UI"/>
              </a:rPr>
              <a:t>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4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88696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1FA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1FA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1FA95C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Fees Hub / Dashboard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/fees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Collect Payment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/fees/collect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Assign Fees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/fees/assign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Defaulters Report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/fees/defaulters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4B5B"/>
                          </a:solidFill>
                          <a:latin typeface="Segoe UI"/>
                        </a:rPr>
                        <a:t>Report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E04793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Communications hub, announcements, and the built-in webmail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10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4793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10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40316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E047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E047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E04793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Communications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/communications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Message Templates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/communications/templates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New Template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/communications/templates/new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Template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/communications/templates/:id/edit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Messages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/communications/messages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Compose Message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/communications/messages/new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Message 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/communications/messages/:id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Message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/communications/messages/:id/edit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Announcements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/announcements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EduNexus Post (Webmail)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/edu-nexus-post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04793"/>
                          </a:solidFill>
                          <a:latin typeface="Segoe UI"/>
                        </a:rPr>
                        <a:t>App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5357E8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AI &amp;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The Nexus AI Assistant and configurable automations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357E8"/>
                </a:solidFill>
                <a:latin typeface="Segoe UI"/>
              </a:rPr>
              <a:t>AI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3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110871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535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535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5357E8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AI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/ai-hub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Nexus AI Assistant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/ai-hub/assistant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357E8"/>
                          </a:solidFill>
                          <a:latin typeface="Segoe UI"/>
                        </a:rPr>
                        <a:t>Chat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Automations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/ai-hub/automations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1496BE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9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ten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149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Platform &amp; Tenant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Organizations, schools, platform users, school users, and memberships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149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21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149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96BE"/>
                </a:solidFill>
                <a:latin typeface="Segoe UI"/>
              </a:rPr>
              <a:t>PLATFORM &amp; TENANT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1 of 2  —  21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149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149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1496BE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Organizations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/organizations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Organization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/organizations/new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Organization 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/organizations/:id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Organization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/organizations/:id/edit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School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/schools/:id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School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/schools/:id/edit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Profile (Admin View)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/schools/:id/profile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My School Profile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/school-profile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Platform Users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/users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User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/users/new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User 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/users/:id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149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96BE"/>
                </a:solidFill>
                <a:latin typeface="Segoe UI"/>
              </a:rPr>
              <a:t>PLATFORM &amp; TENANT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2 of 2  —  21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492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149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149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1496B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User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/users/:id/edit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Users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/school-users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School User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/school-users/new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User Detail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/school-users/:id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School User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/school-users/:id/edit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Memberships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/memberships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Membership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/memberships/new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Membership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/memberships/:id/edit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54647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Access Control &amp; Navigation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Roles, permissions, user-role assignment, modules, and menus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17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4647D"/>
                </a:solidFill>
                <a:latin typeface="Segoe UI"/>
              </a:rPr>
              <a:t>ACCESS CONTROL &amp; NAVIGATION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1 of 2  —  17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5464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5464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54647D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Roles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/roles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Role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/roles/new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Role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/roles/:id/edit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Role Permissions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/roles/:id/permissions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47D"/>
                          </a:solidFill>
                          <a:latin typeface="Segoe UI"/>
                        </a:rPr>
                        <a:t>Matrix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Permissions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/permissions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Permission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/permissions/new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Permission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/permissions/:id/edit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Permission Matrix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/permissions/matrix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47D"/>
                          </a:solidFill>
                          <a:latin typeface="Segoe UI"/>
                        </a:rPr>
                        <a:t>Matrix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User Roles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/user-roles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Assign User Role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/user-roles/new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User Role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/user-roles/:id/edit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Modules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/modules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Module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/modules/new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4647D"/>
                </a:solidFill>
                <a:latin typeface="Segoe UI"/>
              </a:rPr>
              <a:t>ACCESS CONTROL &amp; NAVIGATION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2 of 2  —  17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88696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5464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5464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54647D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Module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/modules/:id/edit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Menus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/menus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Add Menu Item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/menus/new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Edit Menu Item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/menus/:id/edit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A95C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96643C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master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9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Master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Organization-level masters and school-scoped master lists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9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35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9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6643C"/>
                </a:solidFill>
                <a:latin typeface="Segoe UI"/>
              </a:rPr>
              <a:t>MASTER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1 of 3  —  35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Masters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Countries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/masters/countries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States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/masters/states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Cities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/masters/cities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Boards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/masters/boards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Streams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/masters/streams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Subjects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/masters/subjects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Subject Groups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/masters/subject-groups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Departments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/masters/departments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Designations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/masters/designations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Categories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/masters/categories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Setup — Standards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/masters/setup/standards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Setup — Sections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/masters/setup/sections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9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6643C"/>
                </a:solidFill>
                <a:latin typeface="Segoe UI"/>
              </a:rPr>
              <a:t>MASTER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2 of 3  —  35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Setup — Class Map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/masters/setup/map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Masters 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Religion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/school-masters/religion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Caste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/school-masters/caste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/school-masters/category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Gender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/school-masters/gender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Blood Group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/school-masters/blood_group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Nationality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/school-masters/nationality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Mother Tongue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/school-masters/mother_tongue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Disability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/school-masters/disability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Occupation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/school-masters/occupation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Relationship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/school-masters/relationship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Department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/school-masters/department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9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6643C"/>
                </a:solidFill>
                <a:latin typeface="Segoe UI"/>
              </a:rPr>
              <a:t>MASTER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3 of 3  —  35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44348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96643C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Designation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/school-masters/designation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House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/school-masters/house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Club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/school-masters/club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Skill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/school-masters/skill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Achievement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/school-masters/achievement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Transport Route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/school-masters/transport_route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Pickup Point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/school-masters/pickup_point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Vehicle Type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/school-masters/vehicle_type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Medical Condition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/school-masters/medical_condition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5A3EA3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A3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5A3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Configuration &amp;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System settings, school settings, audit logs, and transport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5A3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25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5A3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3EA3"/>
                </a:solidFill>
                <a:latin typeface="Segoe UI"/>
              </a:rPr>
              <a:t>CONFIGURATION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1 of 2  —  25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1677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5A3E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5A3E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5A3EA3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System Settings 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Settings — General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/settings/general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Settings — Email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/settings/email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Settings — SMS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/settings/sms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Settings — Storage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/settings/storage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Settings — JWT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/settings/jwt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Settings — Security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/settings/security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Settings — Theme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/settings/theme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Settings — Notifications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/settings/notifications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5CFC"/>
                          </a:solidFill>
                          <a:latin typeface="Segoe UI"/>
                        </a:rPr>
                        <a:t>Hub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Number Formats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/school-settings/number_formats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Academic Year &amp; Session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/school-settings/academic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167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School Timing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/school-settings/school_timing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5A3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3EA3"/>
                </a:solidFill>
                <a:latin typeface="Segoe UI"/>
              </a:rPr>
              <a:t>CONFIGURATION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Part 2 of 2  —  25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34114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5A3E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5A3E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5A3EA3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Attendance Rules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/school-settings/attendance_rules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Grading Rules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/school-settings/grading_rules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Promotion Rules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/school-settings/promotion_rules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Fee Settings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/school-settings/fee_settings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Notification Settings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/school-settings/notification_settings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Email Settings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/school-settings/email_settings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SMS Settings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/school-settings/sms_settings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WhatsApp Settings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/school-settings/whatsapp_settings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School Settings — Document Settings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/school-settings/document_settings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B8A0B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Audit Logs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/audit-logs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6FED"/>
                          </a:solidFill>
                          <a:latin typeface="Segoe UI"/>
                        </a:rPr>
                        <a:t>List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Audit Log 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/audit-logs/:id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A99E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Transport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/transport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47D"/>
                          </a:solidFill>
                          <a:latin typeface="Segoe UI"/>
                        </a:rPr>
                        <a:t>Placeholder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DB8A0B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ub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2860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A4C74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27248"/>
            <a:ext cx="640080" cy="54864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Public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9C6D9"/>
                </a:solidFill>
                <a:latin typeface="Segoe UI"/>
              </a:rPr>
              <a:t>The only pages that don't require a 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 pages in this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B8A0B"/>
                </a:solidFill>
                <a:latin typeface="Segoe U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Page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2341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3 pages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1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0569"/>
                <a:gridCol w="4249582"/>
                <a:gridCol w="2012960"/>
              </a:tblGrid>
              <a:tr h="110871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 anchor="ctr" marL="101600" marR="50800" marT="25400" marB="25400">
                    <a:solidFill>
                      <a:srgbClr val="DB8A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anchor="ctr" marL="101600" marR="50800" marT="25400" marB="25400">
                    <a:solidFill>
                      <a:srgbClr val="DB8A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101600" marR="50800" marT="25400" marB="25400">
                    <a:solidFill>
                      <a:srgbClr val="DB8A0B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Marketing Landing Page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96BE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Public Form (Fill)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/f/:slug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96BE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anchor="ctr" marL="101600" marR="50800" marT="12700" marB="12700">
                    <a:solidFill>
                      <a:srgbClr val="F7F9FB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939"/>
                          </a:solidFill>
                          <a:latin typeface="Segoe UI"/>
                        </a:rPr>
                        <a:t>QR Verify (Certificates)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B6472"/>
                          </a:solidFill>
                          <a:latin typeface="Consolas"/>
                        </a:rPr>
                        <a:t>/documents/verify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96BE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anchor="ctr" marL="1016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B020"/>
                </a:solidFill>
                <a:latin typeface="Segoe UI"/>
              </a:rPr>
              <a:t>COVERAGE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9536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Segoe UI"/>
              </a:rPr>
              <a:t>Every Menu, Fully Accounted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799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Dashboard &amp;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81965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6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799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81965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20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4144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95727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86583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21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4144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7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386583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26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0837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62655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953511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16 pages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00837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62655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953511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4 pages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75303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529583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520439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10 pages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575303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529583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AI &amp;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520439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3 pages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422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9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09651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Platform &amp; Tenant Administration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087367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21 pages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1422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09651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Access Control &amp; Navigation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087367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17 pages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0915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9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663439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Master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65429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35 pages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70915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A3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663439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Configuration &amp; Compliance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65429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25 pages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27608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230367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A44"/>
                </a:solidFill>
                <a:latin typeface="Segoe UI"/>
              </a:rPr>
              <a:t>Public Website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5221223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3 pages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989320"/>
            <a:ext cx="11109960" cy="640080"/>
          </a:xfrm>
          <a:prstGeom prst="roundRect">
            <a:avLst>
              <a:gd name="adj" fmla="val 15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144768"/>
            <a:ext cx="11109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TOTAL: 207 pages across 13 menus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Methodology &amp;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019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7E0EE"/>
                </a:solidFill>
                <a:latin typeface="Segoe UI"/>
              </a:rPr>
              <a:t>Every entry above is a real, routed page in the application — extracted directly from the app's route configuration, not summarized from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62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7889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7E0EE"/>
                </a:solidFill>
                <a:latin typeface="Segoe UI"/>
              </a:rPr>
              <a:t>List / Create / Detail / Edit views of the same record type are listed as separate rows since each is a distinct screen a user navigates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221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7E0EE"/>
                </a:solidFill>
                <a:latin typeface="Segoe UI"/>
              </a:rPr>
              <a:t>Dynamic pages that share one route template (e.g. Masters, School Masters, Settings) are expanded to show every underlying type or section individually.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823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70916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7E0EE"/>
                </a:solidFill>
                <a:latin typeface="Segoe UI"/>
              </a:rPr>
              <a:t>Excluded from the count: in-page modals that aren't their own route, pure redirect routes, and the generic 404 error page.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38328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7889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57600"/>
            <a:ext cx="731520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9C6D9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Complete Page &amp; Menu Directory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